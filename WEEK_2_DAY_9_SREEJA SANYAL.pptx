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 Light" charset="1" panose="00000400000000000000"/>
      <p:regular r:id="rId14"/>
    </p:embeddedFont>
    <p:embeddedFont>
      <p:font typeface="Canva Sans Bold" charset="1" panose="020B0803030501040103"/>
      <p:regular r:id="rId15"/>
    </p:embeddedFont>
    <p:embeddedFont>
      <p:font typeface="Poppins" charset="1" panose="000005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54698" y="2045363"/>
            <a:ext cx="9561373" cy="5332464"/>
          </a:xfrm>
          <a:custGeom>
            <a:avLst/>
            <a:gdLst/>
            <a:ahLst/>
            <a:cxnLst/>
            <a:rect r="r" b="b" t="t" l="l"/>
            <a:pathLst>
              <a:path h="5332464" w="9561373">
                <a:moveTo>
                  <a:pt x="0" y="0"/>
                </a:moveTo>
                <a:lnTo>
                  <a:pt x="9561374" y="0"/>
                </a:lnTo>
                <a:lnTo>
                  <a:pt x="9561374" y="5332463"/>
                </a:lnTo>
                <a:lnTo>
                  <a:pt x="0" y="533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87" t="-22108" r="-12087" b="-31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2342" y="389166"/>
            <a:ext cx="16655688" cy="300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b="true" sz="11100" spc="-222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PROPOSAL </a:t>
            </a:r>
          </a:p>
          <a:p>
            <a:pPr algn="l">
              <a:lnSpc>
                <a:spcPts val="111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5567" y="7425451"/>
            <a:ext cx="16655688" cy="291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NAME:- SREEJA SANYAL</a:t>
            </a:r>
          </a:p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WEEK :-2</a:t>
            </a:r>
          </a:p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DAY:-9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DATE:- 09.09.2026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10278" y="0"/>
            <a:ext cx="3876497" cy="10287000"/>
            <a:chOff x="0" y="0"/>
            <a:chExt cx="102097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7881015" y="-1112315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18" y="189160"/>
            <a:ext cx="13276733" cy="1073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Quality Findings:-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initial data-quality assessment was performed on the battery charging measurement files.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 observations:-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CSV files contain metadata/header information before the actual measurement records.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 were observed in different columns/files and need to be investigated before modelling.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files have inconsistent structures or column formats.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Numerical measurement columns need to be converted into a consistent numerical format.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Duplicate or repeated records need to be checked.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Possible abnormal values must be investigated using the physical operating range of the battery.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 should be standardized into a common structure before machine-learning modelling.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886609" y="1977601"/>
            <a:ext cx="5323317" cy="6611018"/>
          </a:xfrm>
          <a:custGeom>
            <a:avLst/>
            <a:gdLst/>
            <a:ahLst/>
            <a:cxnLst/>
            <a:rect r="r" b="b" t="t" l="l"/>
            <a:pathLst>
              <a:path h="6611018" w="5323317">
                <a:moveTo>
                  <a:pt x="0" y="0"/>
                </a:moveTo>
                <a:lnTo>
                  <a:pt x="5323317" y="0"/>
                </a:lnTo>
                <a:lnTo>
                  <a:pt x="5323317" y="6611018"/>
                </a:lnTo>
                <a:lnTo>
                  <a:pt x="0" y="6611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" r="-3093" b="-11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47825" y="8991261"/>
            <a:ext cx="495404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 of the original csv file of 0degC</a:t>
            </a:r>
          </a:p>
          <a:p>
            <a:pPr algn="ctr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of "589_Charge1.csv”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1696" y="-943365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615" y="736578"/>
            <a:ext cx="10602099" cy="863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3800" u="sng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cleaning is required:-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 is necessary to ensure that only valid measurement records are used for analysis and model development. 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Incorrect, duplicated, incomplete or non-measurement rows can introduce bias and may negatively affect model performance.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800"/>
              </a:lnSpc>
            </a:pPr>
            <a:r>
              <a:rPr lang="en-US" sz="3800" u="sng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main variables of interest are :</a:t>
            </a:r>
          </a:p>
          <a:p>
            <a:pPr algn="l">
              <a:lnSpc>
                <a:spcPts val="3000"/>
              </a:lnSpc>
            </a:pP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oltage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urrent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emperature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SOC </a:t>
            </a: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harging-time-related measurements</a:t>
            </a:r>
          </a:p>
          <a:p>
            <a:pPr algn="l">
              <a:lnSpc>
                <a:spcPts val="3000"/>
              </a:lnSpc>
            </a:pPr>
          </a:p>
          <a:p>
            <a:pPr algn="l" marL="647700" indent="-323850" lvl="1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Battery SOC estimation commonly uses measurable quantities such as voltage and current together with suitable algorithms.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75440" y="2119865"/>
            <a:ext cx="6399842" cy="5577005"/>
          </a:xfrm>
          <a:custGeom>
            <a:avLst/>
            <a:gdLst/>
            <a:ahLst/>
            <a:cxnLst/>
            <a:rect r="r" b="b" t="t" l="l"/>
            <a:pathLst>
              <a:path h="5577005" w="6399842">
                <a:moveTo>
                  <a:pt x="0" y="0"/>
                </a:moveTo>
                <a:lnTo>
                  <a:pt x="6399842" y="0"/>
                </a:lnTo>
                <a:lnTo>
                  <a:pt x="6399842" y="5577005"/>
                </a:lnTo>
                <a:lnTo>
                  <a:pt x="0" y="5577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75440" y="7706395"/>
            <a:ext cx="6399842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duplicated rows present in the dataset which can effectively hinder the performance of model.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004897" y="-1736871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18601707" y="0"/>
                </a:moveTo>
                <a:lnTo>
                  <a:pt x="0" y="0"/>
                </a:lnTo>
                <a:lnTo>
                  <a:pt x="0" y="7887123"/>
                </a:lnTo>
                <a:lnTo>
                  <a:pt x="18601707" y="7887123"/>
                </a:lnTo>
                <a:lnTo>
                  <a:pt x="18601707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71750" y="7435532"/>
            <a:ext cx="18601707" cy="7887124"/>
          </a:xfrm>
          <a:custGeom>
            <a:avLst/>
            <a:gdLst/>
            <a:ahLst/>
            <a:cxnLst/>
            <a:rect r="r" b="b" t="t" l="l"/>
            <a:pathLst>
              <a:path h="7887124" w="18601707">
                <a:moveTo>
                  <a:pt x="0" y="0"/>
                </a:moveTo>
                <a:lnTo>
                  <a:pt x="18601707" y="0"/>
                </a:lnTo>
                <a:lnTo>
                  <a:pt x="18601707" y="7887124"/>
                </a:lnTo>
                <a:lnTo>
                  <a:pt x="0" y="788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8946" y="175517"/>
            <a:ext cx="7002249" cy="4854123"/>
          </a:xfrm>
          <a:custGeom>
            <a:avLst/>
            <a:gdLst/>
            <a:ahLst/>
            <a:cxnLst/>
            <a:rect r="r" b="b" t="t" l="l"/>
            <a:pathLst>
              <a:path h="4854123" w="7002249">
                <a:moveTo>
                  <a:pt x="0" y="0"/>
                </a:moveTo>
                <a:lnTo>
                  <a:pt x="7002249" y="0"/>
                </a:lnTo>
                <a:lnTo>
                  <a:pt x="7002249" y="4854123"/>
                </a:lnTo>
                <a:lnTo>
                  <a:pt x="0" y="4854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0233" y="5391160"/>
            <a:ext cx="6930963" cy="4683938"/>
          </a:xfrm>
          <a:custGeom>
            <a:avLst/>
            <a:gdLst/>
            <a:ahLst/>
            <a:cxnLst/>
            <a:rect r="r" b="b" t="t" l="l"/>
            <a:pathLst>
              <a:path h="4683938" w="6930963">
                <a:moveTo>
                  <a:pt x="0" y="0"/>
                </a:moveTo>
                <a:lnTo>
                  <a:pt x="6930962" y="0"/>
                </a:lnTo>
                <a:lnTo>
                  <a:pt x="6930962" y="4683938"/>
                </a:lnTo>
                <a:lnTo>
                  <a:pt x="0" y="4683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3308" y="567143"/>
            <a:ext cx="8820692" cy="1016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b="true" sz="379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Operating Regions, Target Coverage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279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Operating regions to be identified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cleaned dataset will be analysed to determine the normal operating regions of: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Battery Voltage</a:t>
            </a: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Charging Current</a:t>
            </a: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Temperature</a:t>
            </a: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State of Charge (SOC)</a:t>
            </a: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Charging/elapsed time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distributions and relationships between these variables will be visualized to identify normal operating regions and potentially abnormal measurements.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2799"/>
              </a:lnSpc>
              <a:spcBef>
                <a:spcPct val="0"/>
              </a:spcBef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Target regions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two main prediction targets are: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Battery State of Charge (SOC)</a:t>
            </a:r>
          </a:p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Remaining Charging Time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64302" y="-3681220"/>
            <a:ext cx="22216605" cy="9419840"/>
          </a:xfrm>
          <a:custGeom>
            <a:avLst/>
            <a:gdLst/>
            <a:ahLst/>
            <a:cxnLst/>
            <a:rect r="r" b="b" t="t" l="l"/>
            <a:pathLst>
              <a:path h="9419840" w="22216605">
                <a:moveTo>
                  <a:pt x="22216604" y="0"/>
                </a:moveTo>
                <a:lnTo>
                  <a:pt x="0" y="0"/>
                </a:lnTo>
                <a:lnTo>
                  <a:pt x="0" y="9419840"/>
                </a:lnTo>
                <a:lnTo>
                  <a:pt x="22216604" y="9419840"/>
                </a:lnTo>
                <a:lnTo>
                  <a:pt x="22216604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2091" y="408099"/>
            <a:ext cx="11087060" cy="948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u="sng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Leakage risk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leakage is a major concern because battery measurements are sequential and may belong to the same charging cycle/session.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Potential leakage can occur if:</a:t>
            </a:r>
          </a:p>
          <a:p>
            <a:pPr algn="l">
              <a:lnSpc>
                <a:spcPts val="2700"/>
              </a:lnSpc>
            </a:pPr>
          </a:p>
          <a:p>
            <a:pPr algn="l" marL="582932" indent="-291466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Information from the future is used to predict an earlier measurement.</a:t>
            </a:r>
          </a:p>
          <a:p>
            <a:pPr algn="l" marL="582932" indent="-291466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target-derived variable is accidentally used as an input feature.</a:t>
            </a:r>
          </a:p>
          <a:p>
            <a:pPr algn="l" marL="582932" indent="-291466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Measurements from the same charging cycle appear in both training and testing data.</a:t>
            </a:r>
          </a:p>
          <a:p>
            <a:pPr algn="l" marL="582932" indent="-291466" lvl="1">
              <a:lnSpc>
                <a:spcPts val="270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Random row-wise splitting allows highly similar consecutive measurements to occur in both sets.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3499"/>
              </a:lnSpc>
            </a:pPr>
            <a:r>
              <a:rPr lang="en-US" sz="3499" u="sng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approach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 cycle/session-aware data splitting wherever the dataset structure allows it. Features should only contain information that would realistically be available at the prediction time.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is important because independent cycle-level testing can help prevent leakage and provide a more realistic evaluation of generalization.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73819" y="1637218"/>
            <a:ext cx="6510157" cy="4373454"/>
          </a:xfrm>
          <a:custGeom>
            <a:avLst/>
            <a:gdLst/>
            <a:ahLst/>
            <a:cxnLst/>
            <a:rect r="r" b="b" t="t" l="l"/>
            <a:pathLst>
              <a:path h="4373454" w="6510157">
                <a:moveTo>
                  <a:pt x="0" y="0"/>
                </a:moveTo>
                <a:lnTo>
                  <a:pt x="6510157" y="0"/>
                </a:lnTo>
                <a:lnTo>
                  <a:pt x="6510157" y="4373454"/>
                </a:lnTo>
                <a:lnTo>
                  <a:pt x="0" y="4373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10278" y="0"/>
            <a:ext cx="3876497" cy="10287000"/>
            <a:chOff x="0" y="0"/>
            <a:chExt cx="102097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9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20970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29776" y="-3103089"/>
            <a:ext cx="19353779" cy="8206002"/>
          </a:xfrm>
          <a:custGeom>
            <a:avLst/>
            <a:gdLst/>
            <a:ahLst/>
            <a:cxnLst/>
            <a:rect r="r" b="b" t="t" l="l"/>
            <a:pathLst>
              <a:path h="8206002" w="19353779">
                <a:moveTo>
                  <a:pt x="0" y="0"/>
                </a:moveTo>
                <a:lnTo>
                  <a:pt x="19353779" y="0"/>
                </a:lnTo>
                <a:lnTo>
                  <a:pt x="19353779" y="8206002"/>
                </a:lnTo>
                <a:lnTo>
                  <a:pt x="0" y="820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38625" y="8480478"/>
            <a:ext cx="16475301" cy="6985528"/>
          </a:xfrm>
          <a:custGeom>
            <a:avLst/>
            <a:gdLst/>
            <a:ahLst/>
            <a:cxnLst/>
            <a:rect r="r" b="b" t="t" l="l"/>
            <a:pathLst>
              <a:path h="6985528" w="16475301">
                <a:moveTo>
                  <a:pt x="0" y="0"/>
                </a:moveTo>
                <a:lnTo>
                  <a:pt x="16475301" y="0"/>
                </a:lnTo>
                <a:lnTo>
                  <a:pt x="16475301" y="6985527"/>
                </a:lnTo>
                <a:lnTo>
                  <a:pt x="0" y="6985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836975" y="1457008"/>
          <a:ext cx="13493059" cy="8643823"/>
        </p:xfrm>
        <a:graphic>
          <a:graphicData uri="http://schemas.openxmlformats.org/drawingml/2006/table">
            <a:tbl>
              <a:tblPr/>
              <a:tblGrid>
                <a:gridCol w="6656443"/>
                <a:gridCol w="6836615"/>
              </a:tblGrid>
              <a:tr h="1368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Cleaning requirement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 u="sng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Proposed action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63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Metadata and inconsistent columns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Remove metadata rows and standardize column names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Non-numeric values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Convert valid values and flag invalid entries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7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Missing values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Quantify and investigate before treatment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Duplicates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Detect and remove confirmed duplicates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Abnormal measurements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Flag values outside expected operating ranges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Target leakage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Remove future- or target-derived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Train/test contamination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cycle- or session-aware splitting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6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Different file structures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Convert files to a common schema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783134" y="296547"/>
            <a:ext cx="8075116" cy="73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b="true" sz="519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Cleaning Plan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44026" y="-2006419"/>
            <a:ext cx="22985203" cy="9745726"/>
          </a:xfrm>
          <a:custGeom>
            <a:avLst/>
            <a:gdLst/>
            <a:ahLst/>
            <a:cxnLst/>
            <a:rect r="r" b="b" t="t" l="l"/>
            <a:pathLst>
              <a:path h="9745726" w="22985203">
                <a:moveTo>
                  <a:pt x="22985202" y="0"/>
                </a:moveTo>
                <a:lnTo>
                  <a:pt x="0" y="0"/>
                </a:lnTo>
                <a:lnTo>
                  <a:pt x="0" y="9745726"/>
                </a:lnTo>
                <a:lnTo>
                  <a:pt x="22985202" y="9745726"/>
                </a:lnTo>
                <a:lnTo>
                  <a:pt x="22985202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1329" y="1028365"/>
            <a:ext cx="9415186" cy="204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31"/>
              </a:lnSpc>
            </a:pPr>
            <a:r>
              <a:rPr lang="en-US" sz="1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DAHUhzU0zks</dc:identifier>
  <dcterms:modified xsi:type="dcterms:W3CDTF">2011-08-01T06:04:30Z</dcterms:modified>
  <cp:revision>1</cp:revision>
  <dc:title>Day 9 — Cleaning Proposal</dc:title>
</cp:coreProperties>
</file>