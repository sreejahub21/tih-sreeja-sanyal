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ro" charset="1" panose="02000000000000000000"/>
      <p:regular r:id="rId12"/>
    </p:embeddedFont>
    <p:embeddedFont>
      <p:font typeface="HK Grotesk Light" charset="1" panose="00000400000000000000"/>
      <p:regular r:id="rId13"/>
    </p:embeddedFon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Arimo" charset="1" panose="020B0604020202020204"/>
      <p:regular r:id="rId16"/>
    </p:embeddedFont>
    <p:embeddedFont>
      <p:font typeface="Canva Sans Bold" charset="1" panose="020B0803030501040103"/>
      <p:regular r:id="rId17"/>
    </p:embeddedFont>
    <p:embeddedFont>
      <p:font typeface="HK Grotesk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0158" y="725919"/>
            <a:ext cx="17652308" cy="371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12000" spc="-660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MODEL ANALYSIS AND PERFORMANCE INSIGHTS</a:t>
            </a:r>
          </a:p>
        </p:txBody>
      </p:sp>
      <p:sp>
        <p:nvSpPr>
          <p:cNvPr name="AutoShape 3" id="3"/>
          <p:cNvSpPr/>
          <p:nvPr/>
        </p:nvSpPr>
        <p:spPr>
          <a:xfrm>
            <a:off x="650926" y="4313592"/>
            <a:ext cx="16230600" cy="0"/>
          </a:xfrm>
          <a:prstGeom prst="line">
            <a:avLst/>
          </a:prstGeom>
          <a:ln cap="flat" w="9525">
            <a:solidFill>
              <a:srgbClr val="DBC7B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020994" y="6557062"/>
            <a:ext cx="4704367" cy="3166191"/>
            <a:chOff x="0" y="0"/>
            <a:chExt cx="1239010" cy="8338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9010" cy="833894"/>
            </a:xfrm>
            <a:custGeom>
              <a:avLst/>
              <a:gdLst/>
              <a:ahLst/>
              <a:cxnLst/>
              <a:rect r="r" b="b" t="t" l="l"/>
              <a:pathLst>
                <a:path h="833894" w="1239010">
                  <a:moveTo>
                    <a:pt x="0" y="0"/>
                  </a:moveTo>
                  <a:lnTo>
                    <a:pt x="1239010" y="0"/>
                  </a:lnTo>
                  <a:lnTo>
                    <a:pt x="1239010" y="833894"/>
                  </a:lnTo>
                  <a:lnTo>
                    <a:pt x="0" y="833894"/>
                  </a:lnTo>
                  <a:close/>
                </a:path>
              </a:pathLst>
            </a:custGeom>
            <a:solidFill>
              <a:srgbClr val="A60E13">
                <a:alpha val="4588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239010" cy="814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179714" y="6707212"/>
            <a:ext cx="4386927" cy="314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4"/>
              </a:lnSpc>
            </a:pPr>
            <a:r>
              <a:rPr lang="en-US" sz="3320" spc="-11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NAME:- SREEJA SANYAL</a:t>
            </a:r>
          </a:p>
          <a:p>
            <a:pPr algn="ctr">
              <a:lnSpc>
                <a:spcPts val="5014"/>
              </a:lnSpc>
            </a:pPr>
            <a:r>
              <a:rPr lang="en-US" sz="3320" spc="-11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WEEK :-3</a:t>
            </a:r>
          </a:p>
          <a:p>
            <a:pPr algn="ctr">
              <a:lnSpc>
                <a:spcPts val="5014"/>
              </a:lnSpc>
            </a:pPr>
            <a:r>
              <a:rPr lang="en-US" sz="3320" spc="-11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DAY:-18</a:t>
            </a:r>
          </a:p>
          <a:p>
            <a:pPr algn="ctr">
              <a:lnSpc>
                <a:spcPts val="5014"/>
              </a:lnSpc>
            </a:pPr>
            <a:r>
              <a:rPr lang="en-US" sz="3320" spc="-11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DATE:- 16.09.2026</a:t>
            </a:r>
          </a:p>
          <a:p>
            <a:pPr algn="ctr">
              <a:lnSpc>
                <a:spcPts val="5014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293208" y="4780298"/>
            <a:ext cx="6857634" cy="5177435"/>
          </a:xfrm>
          <a:custGeom>
            <a:avLst/>
            <a:gdLst/>
            <a:ahLst/>
            <a:cxnLst/>
            <a:rect r="r" b="b" t="t" l="l"/>
            <a:pathLst>
              <a:path h="5177435" w="6857634">
                <a:moveTo>
                  <a:pt x="0" y="0"/>
                </a:moveTo>
                <a:lnTo>
                  <a:pt x="6857634" y="0"/>
                </a:lnTo>
                <a:lnTo>
                  <a:pt x="6857634" y="5177435"/>
                </a:lnTo>
                <a:lnTo>
                  <a:pt x="0" y="517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6" t="-4372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13" y="555257"/>
            <a:ext cx="17852580" cy="253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12000" spc="-660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MODEL / METHOD COMPARISON</a:t>
            </a:r>
          </a:p>
        </p:txBody>
      </p:sp>
      <p:sp>
        <p:nvSpPr>
          <p:cNvPr name="AutoShape 3" id="3"/>
          <p:cNvSpPr/>
          <p:nvPr/>
        </p:nvSpPr>
        <p:spPr>
          <a:xfrm>
            <a:off x="447509" y="2802495"/>
            <a:ext cx="16230600" cy="0"/>
          </a:xfrm>
          <a:prstGeom prst="line">
            <a:avLst/>
          </a:prstGeom>
          <a:ln cap="flat" w="9525">
            <a:solidFill>
              <a:srgbClr val="DBC7B3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39117" y="3651143"/>
          <a:ext cx="17755063" cy="6518549"/>
        </p:xfrm>
        <a:graphic>
          <a:graphicData uri="http://schemas.openxmlformats.org/drawingml/2006/table">
            <a:tbl>
              <a:tblPr/>
              <a:tblGrid>
                <a:gridCol w="2213916"/>
                <a:gridCol w="2726073"/>
                <a:gridCol w="2563561"/>
                <a:gridCol w="2585586"/>
                <a:gridCol w="2739760"/>
                <a:gridCol w="2611180"/>
                <a:gridCol w="2314989"/>
              </a:tblGrid>
              <a:tr h="1326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b="true" sz="1599" u="sng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b="true" sz="1599" u="sng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SOC MAE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b="true" sz="1599" u="sng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SOC 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b="true" sz="1599" u="sng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Remaining Time 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b="true" sz="1599" u="sng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Remaining Time 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b="true" sz="1599" u="sng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Remaining Time 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b="true" sz="1599" u="sng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SOC 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83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Linear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4.681095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11.754876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12224.276890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0.709272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8817.875379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0.918719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83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0.623971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3.769013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761.562992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0.998872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481.613841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0.991644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83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XGBoost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0.500706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1.690871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1223.355192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0.997088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606.707679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0.998318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66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MLP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2.628960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3.993360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1003.307039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0.998042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713.387572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0.990619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89371" y="2931703"/>
            <a:ext cx="18109257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u="sng" b="true">
                <a:solidFill>
                  <a:srgbClr val="DBC7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 of Machine Learning Models for SOC and Remaining Charging Time Prediction:-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192" y="466725"/>
            <a:ext cx="18145617" cy="253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12000" spc="-660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ANALYSIS OF MODEL BEHAVIOUR</a:t>
            </a:r>
          </a:p>
        </p:txBody>
      </p:sp>
      <p:sp>
        <p:nvSpPr>
          <p:cNvPr name="AutoShape 3" id="3"/>
          <p:cNvSpPr/>
          <p:nvPr/>
        </p:nvSpPr>
        <p:spPr>
          <a:xfrm>
            <a:off x="738104" y="2860614"/>
            <a:ext cx="16230600" cy="0"/>
          </a:xfrm>
          <a:prstGeom prst="line">
            <a:avLst/>
          </a:prstGeom>
          <a:ln cap="flat" w="9525">
            <a:solidFill>
              <a:srgbClr val="DBC7B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173409" y="3500183"/>
            <a:ext cx="6893036" cy="4581599"/>
          </a:xfrm>
          <a:custGeom>
            <a:avLst/>
            <a:gdLst/>
            <a:ahLst/>
            <a:cxnLst/>
            <a:rect r="r" b="b" t="t" l="l"/>
            <a:pathLst>
              <a:path h="4581599" w="6893036">
                <a:moveTo>
                  <a:pt x="0" y="0"/>
                </a:moveTo>
                <a:lnTo>
                  <a:pt x="6893036" y="0"/>
                </a:lnTo>
                <a:lnTo>
                  <a:pt x="6893036" y="4581599"/>
                </a:lnTo>
                <a:lnTo>
                  <a:pt x="0" y="4581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030855"/>
            <a:ext cx="9842936" cy="295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 spc="-52" u="sng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Overfitting Check:</a:t>
            </a: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  <a:p>
            <a:pPr algn="l">
              <a:lnSpc>
                <a:spcPts val="2600"/>
              </a:lnSpc>
            </a:pP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Training and validation performance were compared.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SOC models showed a noticeable train–validation performance gap.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Hyperparameter tuning reduced model complexity and improved validation behaviour.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Remaining Charging Time models showed comparatively strong validation performance.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326774"/>
            <a:ext cx="10144709" cy="327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 spc="-52" u="sng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Data Limitations:-</a:t>
            </a:r>
          </a:p>
          <a:p>
            <a:pPr algn="l">
              <a:lnSpc>
                <a:spcPts val="2600"/>
              </a:lnSpc>
            </a:pP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Performance depends on the available battery operating conditions.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Battery temperature and charging behaviour may vary across experiments.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Some operating conditions may have fewer observations than others.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The dataset may not represent every real-world charging condition.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4423" y="2887980"/>
            <a:ext cx="343793" cy="61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4"/>
              </a:lnSpc>
              <a:spcBef>
                <a:spcPct val="0"/>
              </a:spcBef>
            </a:pPr>
            <a:r>
              <a:rPr lang="en-US" sz="3320" spc="-119">
                <a:solidFill>
                  <a:srgbClr val="DBC7B3"/>
                </a:solidFill>
                <a:latin typeface="HK Grotesk"/>
                <a:ea typeface="HK Grotesk"/>
                <a:cs typeface="HK Grotesk"/>
                <a:sym typeface="HK Grotesk"/>
              </a:rPr>
              <a:t>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4423" y="6183899"/>
            <a:ext cx="343793" cy="61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4"/>
              </a:lnSpc>
              <a:spcBef>
                <a:spcPct val="0"/>
              </a:spcBef>
            </a:pPr>
            <a:r>
              <a:rPr lang="en-US" sz="3320" spc="-119">
                <a:solidFill>
                  <a:srgbClr val="DBC7B3"/>
                </a:solidFill>
                <a:latin typeface="HK Grotesk"/>
                <a:ea typeface="HK Grotesk"/>
                <a:cs typeface="HK Grotesk"/>
                <a:sym typeface="HK Grotesk"/>
              </a:rPr>
              <a:t>2</a:t>
            </a:r>
            <a:r>
              <a:rPr lang="en-US" sz="3320" spc="-119">
                <a:solidFill>
                  <a:srgbClr val="DBC7B3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9943" y="2489636"/>
            <a:ext cx="6654640" cy="4407790"/>
          </a:xfrm>
          <a:custGeom>
            <a:avLst/>
            <a:gdLst/>
            <a:ahLst/>
            <a:cxnLst/>
            <a:rect r="r" b="b" t="t" l="l"/>
            <a:pathLst>
              <a:path h="4407790" w="6654640">
                <a:moveTo>
                  <a:pt x="0" y="0"/>
                </a:moveTo>
                <a:lnTo>
                  <a:pt x="6654640" y="0"/>
                </a:lnTo>
                <a:lnTo>
                  <a:pt x="6654640" y="4407791"/>
                </a:lnTo>
                <a:lnTo>
                  <a:pt x="0" y="4407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5464" y="1750942"/>
            <a:ext cx="11017896" cy="29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599" spc="-5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Model Complexity:-</a:t>
            </a:r>
          </a:p>
          <a:p>
            <a:pPr algn="l">
              <a:lnSpc>
                <a:spcPts val="2599"/>
              </a:lnSpc>
            </a:pPr>
          </a:p>
          <a:p>
            <a:pPr algn="l" marL="561334" indent="-280667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Linear Regression: simple and interpretable baseline.</a:t>
            </a:r>
          </a:p>
          <a:p>
            <a:pPr algn="l" marL="561334" indent="-280667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Random Forest: captures nonlinear relationships using multiple decision trees.</a:t>
            </a:r>
          </a:p>
          <a:p>
            <a:pPr algn="l" marL="561334" indent="-280667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XGBoost: boosted tree model with stronger control of model complexity.</a:t>
            </a:r>
          </a:p>
          <a:p>
            <a:pPr algn="l" marL="561334" indent="-280667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ANN/MLP: capable of learning nonlinear patterns but requires more training and tuning.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9994" y="6315711"/>
            <a:ext cx="11628147" cy="29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599" spc="-5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Observed Error Patterns:-</a:t>
            </a:r>
          </a:p>
          <a:p>
            <a:pPr algn="l">
              <a:lnSpc>
                <a:spcPts val="2599"/>
              </a:lnSpc>
            </a:pPr>
          </a:p>
          <a:p>
            <a:pPr algn="l" marL="561334" indent="-280667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Prediction errors are not necessarily uniform across the complete charging process.</a:t>
            </a:r>
          </a:p>
          <a:p>
            <a:pPr algn="l" marL="561334" indent="-280667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Errors may increase in difficult SOC regions or under changing charging conditions.</a:t>
            </a:r>
          </a:p>
          <a:p>
            <a:pPr algn="l" marL="561334" indent="-280667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Remaining Charging Time can be affected by changes in charging behaviour.</a:t>
            </a:r>
          </a:p>
          <a:p>
            <a:pPr algn="l" marL="561334" indent="-280667" lvl="1">
              <a:lnSpc>
                <a:spcPts val="2599"/>
              </a:lnSpc>
              <a:buFont typeface="Arial"/>
              <a:buChar char="•"/>
            </a:pPr>
            <a:r>
              <a:rPr lang="en-US" sz="2599" spc="-5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Error analysis will be investigated further in Day 20.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6201" y="665449"/>
            <a:ext cx="343793" cy="61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4"/>
              </a:lnSpc>
              <a:spcBef>
                <a:spcPct val="0"/>
              </a:spcBef>
            </a:pPr>
            <a:r>
              <a:rPr lang="en-US" sz="3320" spc="-119">
                <a:solidFill>
                  <a:srgbClr val="DBC7B3"/>
                </a:solidFill>
                <a:latin typeface="HK Grotesk"/>
                <a:ea typeface="HK Grotesk"/>
                <a:cs typeface="HK Grotesk"/>
                <a:sym typeface="HK Grotesk"/>
              </a:rPr>
              <a:t>3</a:t>
            </a:r>
            <a:r>
              <a:rPr lang="en-US" sz="3320" spc="-119">
                <a:solidFill>
                  <a:srgbClr val="DBC7B3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6201" y="5423264"/>
            <a:ext cx="343793" cy="61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4"/>
              </a:lnSpc>
              <a:spcBef>
                <a:spcPct val="0"/>
              </a:spcBef>
            </a:pPr>
            <a:r>
              <a:rPr lang="en-US" sz="3320" spc="-119">
                <a:solidFill>
                  <a:srgbClr val="DBC7B3"/>
                </a:solidFill>
                <a:latin typeface="HK Grotesk"/>
                <a:ea typeface="HK Grotesk"/>
                <a:cs typeface="HK Grotesk"/>
                <a:sym typeface="HK Grotesk"/>
              </a:rPr>
              <a:t>4</a:t>
            </a:r>
            <a:r>
              <a:rPr lang="en-US" sz="3320" spc="-119">
                <a:solidFill>
                  <a:srgbClr val="DBC7B3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383" y="724545"/>
            <a:ext cx="18148531" cy="253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12000" spc="-660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MODELS SELECTED  FOR FURTHER EXPERIMENTS</a:t>
            </a:r>
          </a:p>
        </p:txBody>
      </p:sp>
      <p:sp>
        <p:nvSpPr>
          <p:cNvPr name="AutoShape 3" id="3"/>
          <p:cNvSpPr/>
          <p:nvPr/>
        </p:nvSpPr>
        <p:spPr>
          <a:xfrm>
            <a:off x="607336" y="3093090"/>
            <a:ext cx="16230600" cy="0"/>
          </a:xfrm>
          <a:prstGeom prst="line">
            <a:avLst/>
          </a:prstGeom>
          <a:ln cap="flat" w="9525">
            <a:solidFill>
              <a:srgbClr val="DBC7B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797850" y="3260100"/>
            <a:ext cx="9675927" cy="3844453"/>
          </a:xfrm>
          <a:custGeom>
            <a:avLst/>
            <a:gdLst/>
            <a:ahLst/>
            <a:cxnLst/>
            <a:rect r="r" b="b" t="t" l="l"/>
            <a:pathLst>
              <a:path h="3844453" w="9675927">
                <a:moveTo>
                  <a:pt x="0" y="0"/>
                </a:moveTo>
                <a:lnTo>
                  <a:pt x="9675927" y="0"/>
                </a:lnTo>
                <a:lnTo>
                  <a:pt x="9675927" y="3844454"/>
                </a:lnTo>
                <a:lnTo>
                  <a:pt x="0" y="3844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8622" y="3325163"/>
            <a:ext cx="10520200" cy="4247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b="true" sz="2600" spc="-52" u="sng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SOC Prediction:-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Random Forest</a:t>
            </a:r>
          </a:p>
          <a:p>
            <a:pPr algn="l">
              <a:lnSpc>
                <a:spcPts val="2600"/>
              </a:lnSpc>
            </a:pPr>
          </a:p>
          <a:p>
            <a:pPr algn="l">
              <a:lnSpc>
                <a:spcPts val="2600"/>
              </a:lnSpc>
            </a:pPr>
            <a:r>
              <a:rPr lang="en-US" b="true" sz="2600" spc="-52" u="sng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Remaining Charging Time Prediction:-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Random Forest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</a:p>
          <a:p>
            <a:pPr algn="l">
              <a:lnSpc>
                <a:spcPts val="2600"/>
              </a:lnSpc>
            </a:pPr>
          </a:p>
          <a:p>
            <a:pPr algn="l">
              <a:lnSpc>
                <a:spcPts val="2600"/>
              </a:lnSpc>
            </a:pPr>
            <a:r>
              <a:rPr lang="en-US" b="true" sz="2600" spc="-52" u="sng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 Baseline:-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Linear Regression</a:t>
            </a:r>
          </a:p>
          <a:p>
            <a:pPr algn="l">
              <a:lnSpc>
                <a:spcPts val="2600"/>
              </a:lnSpc>
            </a:pPr>
          </a:p>
          <a:p>
            <a:pPr algn="l">
              <a:lnSpc>
                <a:spcPts val="2600"/>
              </a:lnSpc>
            </a:pPr>
            <a:r>
              <a:rPr lang="en-US" b="true" sz="2600" spc="-52" u="sng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ANN/MLP:-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Retained as an additional neural-network comparison model.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8622" y="7801278"/>
            <a:ext cx="8749605" cy="230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b="true" sz="2600" spc="-52" u="sng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Selection Criteria</a:t>
            </a:r>
          </a:p>
          <a:p>
            <a:pPr algn="l">
              <a:lnSpc>
                <a:spcPts val="2600"/>
              </a:lnSpc>
            </a:pP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Validation MAE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Validation RMSE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Validation R²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Generalization gap between training and validation</a:t>
            </a:r>
          </a:p>
          <a:p>
            <a:pPr algn="l" marL="561341" indent="-280670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Model complexity and computational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7336" y="742791"/>
            <a:ext cx="16077842" cy="135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12000" spc="-660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CONCLUSION </a:t>
            </a:r>
          </a:p>
        </p:txBody>
      </p:sp>
      <p:sp>
        <p:nvSpPr>
          <p:cNvPr name="AutoShape 3" id="3"/>
          <p:cNvSpPr/>
          <p:nvPr/>
        </p:nvSpPr>
        <p:spPr>
          <a:xfrm>
            <a:off x="665455" y="2017887"/>
            <a:ext cx="16230600" cy="0"/>
          </a:xfrm>
          <a:prstGeom prst="line">
            <a:avLst/>
          </a:prstGeom>
          <a:ln cap="flat" w="9525">
            <a:solidFill>
              <a:srgbClr val="DBC7B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31270" y="3329845"/>
            <a:ext cx="16230600" cy="12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US" sz="3099" spc="-61">
                <a:solidFill>
                  <a:srgbClr val="DBC7B3">
                    <a:alpha val="8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The model comparison helped identify suitable candidate methods for further investigation based on validation performance, generalization behaviour, error patterns, and model complexity.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87650" y="5997322"/>
            <a:ext cx="10314769" cy="345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8"/>
              </a:lnSpc>
            </a:pPr>
            <a:r>
              <a:rPr lang="en-US" sz="16344" spc="-898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DAHVXGUMvkg</dc:identifier>
  <dcterms:modified xsi:type="dcterms:W3CDTF">2011-08-01T06:04:30Z</dcterms:modified>
  <cp:revision>1</cp:revision>
  <dc:title>Model Analysis and Performance Insights</dc:title>
</cp:coreProperties>
</file>