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y Grotesk V3 Key Bold" charset="1" panose="00000800000000000000"/>
      <p:regular r:id="rId17"/>
    </p:embeddedFont>
    <p:embeddedFont>
      <p:font typeface="HK Grotesk Light" charset="1" panose="00000400000000000000"/>
      <p:regular r:id="rId18"/>
    </p:embeddedFont>
    <p:embeddedFont>
      <p:font typeface="HK Grotesk Bold" charset="1" panose="00000800000000000000"/>
      <p:regular r:id="rId19"/>
    </p:embeddedFont>
    <p:embeddedFont>
      <p:font typeface="Cy Grotesk V3 Key" charset="1" panose="00000500000000000000"/>
      <p:regular r:id="rId20"/>
    </p:embeddedFont>
    <p:embeddedFont>
      <p:font typeface="Open Sans Bold" charset="1" panose="020B0806030504020204"/>
      <p:regular r:id="rId21"/>
    </p:embeddedFont>
    <p:embeddedFont>
      <p:font typeface="Open Sans Light" charset="1" panose="020B0306030504020204"/>
      <p:regular r:id="rId22"/>
    </p:embeddedFont>
    <p:embeddedFont>
      <p:font typeface="Open Sans" charset="1" panose="020B0606030504020204"/>
      <p:regular r:id="rId23"/>
    </p:embeddedFont>
    <p:embeddedFont>
      <p:font typeface="Arimo" charset="1" panose="020B0604020202020204"/>
      <p:regular r:id="rId24"/>
    </p:embeddedFont>
    <p:embeddedFont>
      <p:font typeface="Poppins" charset="1" panose="00000500000000000000"/>
      <p:regular r:id="rId25"/>
    </p:embeddedFont>
    <p:embeddedFont>
      <p:font typeface="HK Grotesk" charset="1" panose="00000500000000000000"/>
      <p:regular r:id="rId26"/>
    </p:embeddedFont>
    <p:embeddedFont>
      <p:font typeface="Poppins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6293" y="3714197"/>
            <a:ext cx="16230600" cy="149974"/>
            <a:chOff x="0" y="0"/>
            <a:chExt cx="4052983" cy="37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37450"/>
            </a:xfrm>
            <a:custGeom>
              <a:avLst/>
              <a:gdLst/>
              <a:ahLst/>
              <a:cxnLst/>
              <a:rect r="r" b="b" t="t" l="l"/>
              <a:pathLst>
                <a:path h="37450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17362" y="4081192"/>
            <a:ext cx="10405471" cy="5989538"/>
          </a:xfrm>
          <a:custGeom>
            <a:avLst/>
            <a:gdLst/>
            <a:ahLst/>
            <a:cxnLst/>
            <a:rect r="r" b="b" t="t" l="l"/>
            <a:pathLst>
              <a:path h="5989538" w="10405471">
                <a:moveTo>
                  <a:pt x="0" y="0"/>
                </a:moveTo>
                <a:lnTo>
                  <a:pt x="10405470" y="0"/>
                </a:lnTo>
                <a:lnTo>
                  <a:pt x="10405470" y="5989538"/>
                </a:lnTo>
                <a:lnTo>
                  <a:pt x="0" y="5989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6293" y="149239"/>
            <a:ext cx="17981707" cy="350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b="true" sz="11000" spc="-880">
                <a:solidFill>
                  <a:srgbClr val="FFFFFF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Battery Data Analysis &amp; Feature Engineering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134377" y="2347718"/>
            <a:ext cx="1533046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332710" y="7140191"/>
            <a:ext cx="4386927" cy="314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4"/>
              </a:lnSpc>
            </a:pPr>
            <a:r>
              <a:rPr lang="en-US" sz="3320" spc="-11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NAME:- SREEJA SANYAL</a:t>
            </a:r>
          </a:p>
          <a:p>
            <a:pPr algn="ctr">
              <a:lnSpc>
                <a:spcPts val="5014"/>
              </a:lnSpc>
            </a:pPr>
            <a:r>
              <a:rPr lang="en-US" sz="3320" spc="-11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WEEK :-2</a:t>
            </a:r>
          </a:p>
          <a:p>
            <a:pPr algn="ctr">
              <a:lnSpc>
                <a:spcPts val="5014"/>
              </a:lnSpc>
            </a:pPr>
            <a:r>
              <a:rPr lang="en-US" sz="3320" spc="-11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DAY:-14</a:t>
            </a:r>
          </a:p>
          <a:p>
            <a:pPr algn="ctr">
              <a:lnSpc>
                <a:spcPts val="5014"/>
              </a:lnSpc>
            </a:pPr>
            <a:r>
              <a:rPr lang="en-US" sz="3320" spc="-11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DATE:- 09.09.2026</a:t>
            </a:r>
          </a:p>
          <a:p>
            <a:pPr algn="ctr">
              <a:lnSpc>
                <a:spcPts val="50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158459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82002" y="3932571"/>
            <a:ext cx="1139957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b="true" sz="3800" spc="-13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8413" y="5133873"/>
            <a:ext cx="1139957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spc="-136" strike="noStrike" u="non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2002" y="5887476"/>
            <a:ext cx="1139957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spc="-136" strike="noStrike" u="none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8413" y="6516126"/>
            <a:ext cx="1139957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spc="-136" strike="noStrike" u="non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8413" y="7202315"/>
            <a:ext cx="1139957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spc="-136" strike="noStrike" u="non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932342" y="1028700"/>
            <a:ext cx="195032" cy="19503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848671" y="1476711"/>
            <a:ext cx="195406" cy="19540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20217" y="2626369"/>
            <a:ext cx="8626060" cy="7743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3"/>
              </a:lnSpc>
            </a:pPr>
            <a:r>
              <a:rPr lang="en-US" sz="3399" spc="-12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What did the data tell us?</a:t>
            </a:r>
          </a:p>
          <a:p>
            <a:pPr algn="l">
              <a:lnSpc>
                <a:spcPts val="5133"/>
              </a:lnSpc>
            </a:pPr>
          </a:p>
          <a:p>
            <a:pPr algn="l">
              <a:lnSpc>
                <a:spcPts val="5133"/>
              </a:lnSpc>
            </a:pPr>
            <a:r>
              <a:rPr lang="en-US" sz="3399" spc="-12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Voltage, Current &amp; Temperature → Key battery measurement variables</a:t>
            </a:r>
          </a:p>
          <a:p>
            <a:pPr algn="l">
              <a:lnSpc>
                <a:spcPts val="5133"/>
              </a:lnSpc>
            </a:pPr>
            <a:r>
              <a:rPr lang="en-US" sz="3399" spc="-12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Power → derived electrical feature</a:t>
            </a:r>
          </a:p>
          <a:p>
            <a:pPr algn="l">
              <a:lnSpc>
                <a:spcPts val="5133"/>
              </a:lnSpc>
            </a:pPr>
            <a:r>
              <a:rPr lang="en-US" sz="3399" spc="-12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Time  → Charging progression</a:t>
            </a:r>
          </a:p>
          <a:p>
            <a:pPr algn="l">
              <a:lnSpc>
                <a:spcPts val="5133"/>
              </a:lnSpc>
            </a:pPr>
            <a:r>
              <a:rPr lang="en-US" sz="3399" spc="-12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SOC → Primary prediction target</a:t>
            </a:r>
          </a:p>
          <a:p>
            <a:pPr algn="l">
              <a:lnSpc>
                <a:spcPts val="5133"/>
              </a:lnSpc>
            </a:pPr>
            <a:r>
              <a:rPr lang="en-US" sz="3399" spc="-12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EDA revealed nonlinear relationships among several battery variables.</a:t>
            </a:r>
          </a:p>
          <a:p>
            <a:pPr algn="l">
              <a:lnSpc>
                <a:spcPts val="5133"/>
              </a:lnSpc>
            </a:pPr>
            <a:r>
              <a:rPr lang="en-US" sz="3399" spc="-12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Data quality &amp; leakage checks are important before model training.</a:t>
            </a:r>
          </a:p>
          <a:p>
            <a:pPr algn="l">
              <a:lnSpc>
                <a:spcPts val="5133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82002" y="8517153"/>
            <a:ext cx="1139957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spc="-136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26469" y="2542201"/>
            <a:ext cx="9932552" cy="7429691"/>
            <a:chOff x="0" y="0"/>
            <a:chExt cx="2615981" cy="19567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15981" cy="1956791"/>
            </a:xfrm>
            <a:custGeom>
              <a:avLst/>
              <a:gdLst/>
              <a:ahLst/>
              <a:cxnLst/>
              <a:rect r="r" b="b" t="t" l="l"/>
              <a:pathLst>
                <a:path h="1956791" w="2615981">
                  <a:moveTo>
                    <a:pt x="39752" y="0"/>
                  </a:moveTo>
                  <a:lnTo>
                    <a:pt x="2576229" y="0"/>
                  </a:lnTo>
                  <a:cubicBezTo>
                    <a:pt x="2586772" y="0"/>
                    <a:pt x="2596883" y="4188"/>
                    <a:pt x="2604338" y="11643"/>
                  </a:cubicBezTo>
                  <a:cubicBezTo>
                    <a:pt x="2611793" y="19098"/>
                    <a:pt x="2615981" y="29209"/>
                    <a:pt x="2615981" y="39752"/>
                  </a:cubicBezTo>
                  <a:lnTo>
                    <a:pt x="2615981" y="1917039"/>
                  </a:lnTo>
                  <a:cubicBezTo>
                    <a:pt x="2615981" y="1927582"/>
                    <a:pt x="2611793" y="1937693"/>
                    <a:pt x="2604338" y="1945148"/>
                  </a:cubicBezTo>
                  <a:cubicBezTo>
                    <a:pt x="2596883" y="1952603"/>
                    <a:pt x="2586772" y="1956791"/>
                    <a:pt x="2576229" y="1956791"/>
                  </a:cubicBezTo>
                  <a:lnTo>
                    <a:pt x="39752" y="1956791"/>
                  </a:lnTo>
                  <a:cubicBezTo>
                    <a:pt x="17798" y="1956791"/>
                    <a:pt x="0" y="1938993"/>
                    <a:pt x="0" y="1917039"/>
                  </a:cubicBezTo>
                  <a:lnTo>
                    <a:pt x="0" y="39752"/>
                  </a:lnTo>
                  <a:cubicBezTo>
                    <a:pt x="0" y="17798"/>
                    <a:pt x="17798" y="0"/>
                    <a:pt x="397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2615981" cy="2023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426469" y="597772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5" y="0"/>
                </a:lnTo>
                <a:lnTo>
                  <a:pt x="308535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7419880" y="9546757"/>
            <a:ext cx="499465" cy="49946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5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2421786" y="2323140"/>
            <a:ext cx="3613585" cy="6816774"/>
          </a:xfrm>
          <a:custGeom>
            <a:avLst/>
            <a:gdLst/>
            <a:ahLst/>
            <a:cxnLst/>
            <a:rect r="r" b="b" t="t" l="l"/>
            <a:pathLst>
              <a:path h="6816774" w="3613585">
                <a:moveTo>
                  <a:pt x="0" y="0"/>
                </a:moveTo>
                <a:lnTo>
                  <a:pt x="3613584" y="0"/>
                </a:lnTo>
                <a:lnTo>
                  <a:pt x="3613584" y="6816774"/>
                </a:lnTo>
                <a:lnTo>
                  <a:pt x="0" y="68167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412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070152" y="459697"/>
            <a:ext cx="13387005" cy="153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713"/>
              </a:lnSpc>
              <a:spcBef>
                <a:spcPct val="0"/>
              </a:spcBef>
            </a:pPr>
            <a:r>
              <a:rPr lang="en-US" sz="13392" spc="-1071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 EDA FINDINGS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535369" y="9514295"/>
            <a:ext cx="268486" cy="47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  <a:spcBef>
                <a:spcPct val="0"/>
              </a:spcBef>
            </a:pPr>
            <a:r>
              <a:rPr lang="en-US" sz="2599" spc="-93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1.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02510" y="9165058"/>
            <a:ext cx="7652135" cy="70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  <a:spcBef>
                <a:spcPct val="0"/>
              </a:spcBef>
            </a:pPr>
            <a:r>
              <a:rPr lang="en-US" b="true" sz="1900" spc="-6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EDA was used to understand the distribution, trends, and relationships present in the battery data.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4016" y="358891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67046" y="1790367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09466" y="2751684"/>
          <a:ext cx="5934871" cy="6953250"/>
        </p:xfrm>
        <a:graphic>
          <a:graphicData uri="http://schemas.openxmlformats.org/drawingml/2006/table">
            <a:tbl>
              <a:tblPr/>
              <a:tblGrid>
                <a:gridCol w="2967435"/>
                <a:gridCol w="2967435"/>
              </a:tblGrid>
              <a:tr h="8236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Features Considered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FeaturePurpose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8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Voltage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Electrical measurement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8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Current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Charging measurement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8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Temperature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Thermal measurement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40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Power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Derived electrical feature(voltage *current)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8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SOC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Target/battery state variable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79569" y="2465626"/>
            <a:ext cx="7366230" cy="7580595"/>
            <a:chOff x="0" y="0"/>
            <a:chExt cx="1940077" cy="19965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40077" cy="1996535"/>
            </a:xfrm>
            <a:custGeom>
              <a:avLst/>
              <a:gdLst/>
              <a:ahLst/>
              <a:cxnLst/>
              <a:rect r="r" b="b" t="t" l="l"/>
              <a:pathLst>
                <a:path h="1996535" w="1940077">
                  <a:moveTo>
                    <a:pt x="53601" y="0"/>
                  </a:moveTo>
                  <a:lnTo>
                    <a:pt x="1886476" y="0"/>
                  </a:lnTo>
                  <a:cubicBezTo>
                    <a:pt x="1900692" y="0"/>
                    <a:pt x="1914325" y="5647"/>
                    <a:pt x="1924377" y="15699"/>
                  </a:cubicBezTo>
                  <a:cubicBezTo>
                    <a:pt x="1934430" y="25752"/>
                    <a:pt x="1940077" y="39385"/>
                    <a:pt x="1940077" y="53601"/>
                  </a:cubicBezTo>
                  <a:lnTo>
                    <a:pt x="1940077" y="1942935"/>
                  </a:lnTo>
                  <a:cubicBezTo>
                    <a:pt x="1940077" y="1957150"/>
                    <a:pt x="1934430" y="1970784"/>
                    <a:pt x="1924377" y="1980836"/>
                  </a:cubicBezTo>
                  <a:cubicBezTo>
                    <a:pt x="1914325" y="1990888"/>
                    <a:pt x="1900692" y="1996535"/>
                    <a:pt x="1886476" y="1996535"/>
                  </a:cubicBezTo>
                  <a:lnTo>
                    <a:pt x="53601" y="1996535"/>
                  </a:lnTo>
                  <a:cubicBezTo>
                    <a:pt x="39385" y="1996535"/>
                    <a:pt x="25752" y="1990888"/>
                    <a:pt x="15699" y="1980836"/>
                  </a:cubicBezTo>
                  <a:cubicBezTo>
                    <a:pt x="5647" y="1970784"/>
                    <a:pt x="0" y="1957150"/>
                    <a:pt x="0" y="1942935"/>
                  </a:cubicBezTo>
                  <a:lnTo>
                    <a:pt x="0" y="53601"/>
                  </a:lnTo>
                  <a:cubicBezTo>
                    <a:pt x="0" y="39385"/>
                    <a:pt x="5647" y="25752"/>
                    <a:pt x="15699" y="15699"/>
                  </a:cubicBezTo>
                  <a:cubicBezTo>
                    <a:pt x="25752" y="5647"/>
                    <a:pt x="39385" y="0"/>
                    <a:pt x="536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940077" cy="206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19880" y="9546757"/>
            <a:ext cx="499465" cy="49946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5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816698" y="2716565"/>
            <a:ext cx="9890111" cy="5800717"/>
          </a:xfrm>
          <a:custGeom>
            <a:avLst/>
            <a:gdLst/>
            <a:ahLst/>
            <a:cxnLst/>
            <a:rect r="r" b="b" t="t" l="l"/>
            <a:pathLst>
              <a:path h="5800717" w="9890111">
                <a:moveTo>
                  <a:pt x="0" y="0"/>
                </a:moveTo>
                <a:lnTo>
                  <a:pt x="9890111" y="0"/>
                </a:lnTo>
                <a:lnTo>
                  <a:pt x="9890111" y="5800716"/>
                </a:lnTo>
                <a:lnTo>
                  <a:pt x="0" y="5800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09466" y="265698"/>
            <a:ext cx="1741401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12000" spc="-960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 FEATURE ENGINEERING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35369" y="9514295"/>
            <a:ext cx="268486" cy="47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  <a:spcBef>
                <a:spcPct val="0"/>
              </a:spcBef>
            </a:pPr>
            <a:r>
              <a:rPr lang="en-US" sz="2599" spc="-93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2.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16698" y="8460131"/>
            <a:ext cx="9890111" cy="70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  <a:spcBef>
                <a:spcPct val="0"/>
              </a:spcBef>
            </a:pPr>
            <a:r>
              <a:rPr lang="en-US" b="true" sz="1900" spc="-6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Relevant electrical and time-based features were derived to support SOC and charging-time prediction.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88051" y="2741993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4532" y="3372431"/>
            <a:ext cx="9471672" cy="6804351"/>
            <a:chOff x="0" y="0"/>
            <a:chExt cx="2494597" cy="17920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4597" cy="1792092"/>
            </a:xfrm>
            <a:custGeom>
              <a:avLst/>
              <a:gdLst/>
              <a:ahLst/>
              <a:cxnLst/>
              <a:rect r="r" b="b" t="t" l="l"/>
              <a:pathLst>
                <a:path h="1792092" w="2494597">
                  <a:moveTo>
                    <a:pt x="41686" y="0"/>
                  </a:moveTo>
                  <a:lnTo>
                    <a:pt x="2452910" y="0"/>
                  </a:lnTo>
                  <a:cubicBezTo>
                    <a:pt x="2463966" y="0"/>
                    <a:pt x="2474569" y="4392"/>
                    <a:pt x="2482387" y="12210"/>
                  </a:cubicBezTo>
                  <a:cubicBezTo>
                    <a:pt x="2490205" y="20027"/>
                    <a:pt x="2494597" y="30630"/>
                    <a:pt x="2494597" y="41686"/>
                  </a:cubicBezTo>
                  <a:lnTo>
                    <a:pt x="2494597" y="1750406"/>
                  </a:lnTo>
                  <a:cubicBezTo>
                    <a:pt x="2494597" y="1761462"/>
                    <a:pt x="2490205" y="1772065"/>
                    <a:pt x="2482387" y="1779883"/>
                  </a:cubicBezTo>
                  <a:cubicBezTo>
                    <a:pt x="2474569" y="1787700"/>
                    <a:pt x="2463966" y="1792092"/>
                    <a:pt x="2452910" y="1792092"/>
                  </a:cubicBezTo>
                  <a:lnTo>
                    <a:pt x="41686" y="1792092"/>
                  </a:lnTo>
                  <a:cubicBezTo>
                    <a:pt x="30630" y="1792092"/>
                    <a:pt x="20027" y="1787700"/>
                    <a:pt x="12210" y="1779883"/>
                  </a:cubicBezTo>
                  <a:cubicBezTo>
                    <a:pt x="4392" y="1772065"/>
                    <a:pt x="0" y="1761462"/>
                    <a:pt x="0" y="1750406"/>
                  </a:cubicBezTo>
                  <a:lnTo>
                    <a:pt x="0" y="41686"/>
                  </a:lnTo>
                  <a:cubicBezTo>
                    <a:pt x="0" y="30630"/>
                    <a:pt x="4392" y="20027"/>
                    <a:pt x="12210" y="12210"/>
                  </a:cubicBezTo>
                  <a:cubicBezTo>
                    <a:pt x="20027" y="4392"/>
                    <a:pt x="30630" y="0"/>
                    <a:pt x="416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494597" cy="1858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028700" y="3607405"/>
          <a:ext cx="7848478" cy="6334402"/>
        </p:xfrm>
        <a:graphic>
          <a:graphicData uri="http://schemas.openxmlformats.org/drawingml/2006/table">
            <a:tbl>
              <a:tblPr/>
              <a:tblGrid>
                <a:gridCol w="3691673"/>
                <a:gridCol w="4156805"/>
              </a:tblGrid>
              <a:tr h="9557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9F9F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Selected Variable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6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9F9F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Input Features (X)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Voltage, Current, Temperature, Power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57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 (y)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Remaining Charging 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57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Split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Training Set + Test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6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Prepare the dataset for the upcoming regression stag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2" id="12"/>
          <p:cNvSpPr/>
          <p:nvPr/>
        </p:nvSpPr>
        <p:spPr>
          <a:xfrm flipH="false" flipV="false" rot="0">
            <a:off x="264532" y="408125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419880" y="9546757"/>
            <a:ext cx="499465" cy="49946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507632" y="2895576"/>
            <a:ext cx="4121422" cy="6498600"/>
          </a:xfrm>
          <a:custGeom>
            <a:avLst/>
            <a:gdLst/>
            <a:ahLst/>
            <a:cxnLst/>
            <a:rect r="r" b="b" t="t" l="l"/>
            <a:pathLst>
              <a:path h="6498600" w="4121422">
                <a:moveTo>
                  <a:pt x="0" y="0"/>
                </a:moveTo>
                <a:lnTo>
                  <a:pt x="4121422" y="0"/>
                </a:lnTo>
                <a:lnTo>
                  <a:pt x="4121422" y="6498599"/>
                </a:lnTo>
                <a:lnTo>
                  <a:pt x="0" y="64985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88102" y="326917"/>
            <a:ext cx="18096204" cy="245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20"/>
              </a:lnSpc>
              <a:spcBef>
                <a:spcPct val="0"/>
              </a:spcBef>
            </a:pPr>
            <a:r>
              <a:rPr lang="en-US" sz="11400" spc="-912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 DATA PREPARATION FOR MODELING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535369" y="9514295"/>
            <a:ext cx="268486" cy="47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  <a:spcBef>
                <a:spcPct val="0"/>
              </a:spcBef>
            </a:pPr>
            <a:r>
              <a:rPr lang="en-US" sz="2599" spc="-93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3.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92167" y="9533345"/>
            <a:ext cx="7567133" cy="74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  <a:spcBef>
                <a:spcPct val="0"/>
              </a:spcBef>
            </a:pPr>
            <a:r>
              <a:rPr lang="en-US" sz="2000" spc="-72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target variables and selected input features were summarized before model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7209" y="469293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5" y="0"/>
                </a:lnTo>
                <a:lnTo>
                  <a:pt x="308535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11477" y="198916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8610" y="2125897"/>
            <a:ext cx="9441659" cy="8010687"/>
            <a:chOff x="0" y="0"/>
            <a:chExt cx="2486692" cy="21098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86692" cy="2109811"/>
            </a:xfrm>
            <a:custGeom>
              <a:avLst/>
              <a:gdLst/>
              <a:ahLst/>
              <a:cxnLst/>
              <a:rect r="r" b="b" t="t" l="l"/>
              <a:pathLst>
                <a:path h="2109811" w="2486692">
                  <a:moveTo>
                    <a:pt x="41819" y="0"/>
                  </a:moveTo>
                  <a:lnTo>
                    <a:pt x="2444873" y="0"/>
                  </a:lnTo>
                  <a:cubicBezTo>
                    <a:pt x="2455964" y="0"/>
                    <a:pt x="2466601" y="4406"/>
                    <a:pt x="2474444" y="12248"/>
                  </a:cubicBezTo>
                  <a:cubicBezTo>
                    <a:pt x="2482286" y="20091"/>
                    <a:pt x="2486692" y="30728"/>
                    <a:pt x="2486692" y="41819"/>
                  </a:cubicBezTo>
                  <a:lnTo>
                    <a:pt x="2486692" y="2067992"/>
                  </a:lnTo>
                  <a:cubicBezTo>
                    <a:pt x="2486692" y="2079083"/>
                    <a:pt x="2482286" y="2089720"/>
                    <a:pt x="2474444" y="2097562"/>
                  </a:cubicBezTo>
                  <a:cubicBezTo>
                    <a:pt x="2466601" y="2105405"/>
                    <a:pt x="2455964" y="2109811"/>
                    <a:pt x="2444873" y="2109811"/>
                  </a:cubicBezTo>
                  <a:lnTo>
                    <a:pt x="41819" y="2109811"/>
                  </a:lnTo>
                  <a:cubicBezTo>
                    <a:pt x="30728" y="2109811"/>
                    <a:pt x="20091" y="2105405"/>
                    <a:pt x="12248" y="2097562"/>
                  </a:cubicBezTo>
                  <a:cubicBezTo>
                    <a:pt x="4406" y="2089720"/>
                    <a:pt x="0" y="2079083"/>
                    <a:pt x="0" y="2067992"/>
                  </a:cubicBezTo>
                  <a:lnTo>
                    <a:pt x="0" y="41819"/>
                  </a:lnTo>
                  <a:cubicBezTo>
                    <a:pt x="0" y="30728"/>
                    <a:pt x="4406" y="20091"/>
                    <a:pt x="12248" y="12248"/>
                  </a:cubicBezTo>
                  <a:cubicBezTo>
                    <a:pt x="20091" y="4406"/>
                    <a:pt x="30728" y="0"/>
                    <a:pt x="418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486692" cy="2176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419880" y="9546757"/>
            <a:ext cx="499465" cy="49946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751820" y="3487815"/>
            <a:ext cx="6895970" cy="3976378"/>
          </a:xfrm>
          <a:custGeom>
            <a:avLst/>
            <a:gdLst/>
            <a:ahLst/>
            <a:cxnLst/>
            <a:rect r="r" b="b" t="t" l="l"/>
            <a:pathLst>
              <a:path h="3976378" w="6895970">
                <a:moveTo>
                  <a:pt x="0" y="0"/>
                </a:moveTo>
                <a:lnTo>
                  <a:pt x="6895969" y="0"/>
                </a:lnTo>
                <a:lnTo>
                  <a:pt x="6895969" y="3976378"/>
                </a:lnTo>
                <a:lnTo>
                  <a:pt x="0" y="3976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8549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31128" y="377687"/>
            <a:ext cx="14060839" cy="142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00"/>
              </a:lnSpc>
              <a:spcBef>
                <a:spcPct val="0"/>
              </a:spcBef>
            </a:pPr>
            <a:r>
              <a:rPr lang="en-US" sz="12500" spc="-1000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Prediction Setup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0012" y="6452689"/>
            <a:ext cx="8743647" cy="319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266" indent="-248133" lvl="1">
              <a:lnSpc>
                <a:spcPts val="3218"/>
              </a:lnSpc>
              <a:buFont typeface="Arial"/>
              <a:buChar char="•"/>
            </a:pPr>
            <a:r>
              <a:rPr lang="en-US" sz="2298" spc="-20">
                <a:solidFill>
                  <a:srgbClr val="F9F9F9"/>
                </a:solidFill>
                <a:latin typeface="Poppins"/>
                <a:ea typeface="Poppins"/>
                <a:cs typeface="Poppins"/>
                <a:sym typeface="Poppins"/>
              </a:rPr>
              <a:t>The selected charging-related variables are used as input features.</a:t>
            </a:r>
          </a:p>
          <a:p>
            <a:pPr algn="l" marL="496266" indent="-248133" lvl="1">
              <a:lnSpc>
                <a:spcPts val="3218"/>
              </a:lnSpc>
              <a:buFont typeface="Arial"/>
              <a:buChar char="•"/>
            </a:pPr>
            <a:r>
              <a:rPr lang="en-US" sz="2298" spc="-20">
                <a:solidFill>
                  <a:srgbClr val="F9F9F9"/>
                </a:solidFill>
                <a:latin typeface="Poppins"/>
                <a:ea typeface="Poppins"/>
                <a:cs typeface="Poppins"/>
                <a:sym typeface="Poppins"/>
              </a:rPr>
              <a:t>Remaining Charging Time is defined as the prediction target.</a:t>
            </a:r>
          </a:p>
          <a:p>
            <a:pPr algn="l" marL="496266" indent="-248133" lvl="1">
              <a:lnSpc>
                <a:spcPts val="3218"/>
              </a:lnSpc>
              <a:buFont typeface="Arial"/>
              <a:buChar char="•"/>
            </a:pPr>
            <a:r>
              <a:rPr lang="en-US" sz="2298" spc="-20">
                <a:solidFill>
                  <a:srgbClr val="F9F9F9"/>
                </a:solidFill>
                <a:latin typeface="Poppins"/>
                <a:ea typeface="Poppins"/>
                <a:cs typeface="Poppins"/>
                <a:sym typeface="Poppins"/>
              </a:rPr>
              <a:t>This creates the basic input–target structure required for regression.</a:t>
            </a:r>
          </a:p>
          <a:p>
            <a:pPr algn="l" marL="496266" indent="-248133" lvl="1">
              <a:lnSpc>
                <a:spcPts val="3218"/>
              </a:lnSpc>
              <a:buFont typeface="Arial"/>
              <a:buChar char="•"/>
            </a:pPr>
            <a:r>
              <a:rPr lang="en-US" sz="2298" spc="-20">
                <a:solidFill>
                  <a:srgbClr val="F9F9F9"/>
                </a:solidFill>
                <a:latin typeface="Poppins"/>
                <a:ea typeface="Poppins"/>
                <a:cs typeface="Poppins"/>
                <a:sym typeface="Poppins"/>
              </a:rPr>
              <a:t>The prepared setup will be used in the upcoming modeling stage.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5323" y="2347414"/>
            <a:ext cx="6418659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208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Input Features (X)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208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(Voltage + Current + Temperature + Power 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208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↓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208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Regression Model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208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↓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208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Target (y)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208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Remaining Charging Time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534104" y="9534216"/>
            <a:ext cx="271016" cy="457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8" spc="-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98542" y="7789037"/>
            <a:ext cx="6460758" cy="146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  <a:spcBef>
                <a:spcPct val="0"/>
              </a:spcBef>
            </a:pPr>
            <a:r>
              <a:rPr lang="en-US" sz="2599" spc="-93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Separate input features (X) and target variables (y) were defined for SOC estimation and Remaining Charging Time prediction.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498" y="497242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5" y="0"/>
                </a:lnTo>
                <a:lnTo>
                  <a:pt x="308535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97228" y="2198042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9033" y="2450326"/>
            <a:ext cx="9634345" cy="7595921"/>
            <a:chOff x="0" y="0"/>
            <a:chExt cx="2537441" cy="20005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37441" cy="2000572"/>
            </a:xfrm>
            <a:custGeom>
              <a:avLst/>
              <a:gdLst/>
              <a:ahLst/>
              <a:cxnLst/>
              <a:rect r="r" b="b" t="t" l="l"/>
              <a:pathLst>
                <a:path h="2000572" w="2537441">
                  <a:moveTo>
                    <a:pt x="40982" y="0"/>
                  </a:moveTo>
                  <a:lnTo>
                    <a:pt x="2496458" y="0"/>
                  </a:lnTo>
                  <a:cubicBezTo>
                    <a:pt x="2519092" y="0"/>
                    <a:pt x="2537441" y="18348"/>
                    <a:pt x="2537441" y="40982"/>
                  </a:cubicBezTo>
                  <a:lnTo>
                    <a:pt x="2537441" y="1959589"/>
                  </a:lnTo>
                  <a:cubicBezTo>
                    <a:pt x="2537441" y="1982223"/>
                    <a:pt x="2519092" y="2000572"/>
                    <a:pt x="2496458" y="2000572"/>
                  </a:cubicBezTo>
                  <a:lnTo>
                    <a:pt x="40982" y="2000572"/>
                  </a:lnTo>
                  <a:cubicBezTo>
                    <a:pt x="18348" y="2000572"/>
                    <a:pt x="0" y="1982223"/>
                    <a:pt x="0" y="1959589"/>
                  </a:cubicBezTo>
                  <a:lnTo>
                    <a:pt x="0" y="40982"/>
                  </a:lnTo>
                  <a:cubicBezTo>
                    <a:pt x="0" y="18348"/>
                    <a:pt x="18348" y="0"/>
                    <a:pt x="409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537441" cy="2067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38"/>
                </a:lnSpc>
              </a:pPr>
              <a:r>
                <a:rPr lang="en-US" sz="2598" spc="-23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Why was the dataset split?</a:t>
              </a:r>
            </a:p>
            <a:p>
              <a:pPr algn="l">
                <a:lnSpc>
                  <a:spcPts val="3638"/>
                </a:lnSpc>
              </a:pPr>
            </a:p>
            <a:p>
              <a:pPr algn="l" marL="561035" indent="-280517" lvl="1">
                <a:lnSpc>
                  <a:spcPts val="3638"/>
                </a:lnSpc>
                <a:buFont typeface="Arial"/>
                <a:buChar char="•"/>
              </a:pPr>
              <a:r>
                <a:rPr lang="en-US" sz="2598" spc="-23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Training set → Used for learning patterns from the available data.</a:t>
              </a:r>
            </a:p>
            <a:p>
              <a:pPr algn="l">
                <a:lnSpc>
                  <a:spcPts val="3638"/>
                </a:lnSpc>
              </a:pPr>
            </a:p>
            <a:p>
              <a:pPr algn="l" marL="561035" indent="-280517" lvl="1">
                <a:lnSpc>
                  <a:spcPts val="3638"/>
                </a:lnSpc>
                <a:buFont typeface="Arial"/>
                <a:buChar char="•"/>
              </a:pPr>
              <a:r>
                <a:rPr lang="en-US" sz="2598" spc="-23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Test set → Used to evaluate the model on data not used during training.</a:t>
              </a:r>
            </a:p>
            <a:p>
              <a:pPr algn="l">
                <a:lnSpc>
                  <a:spcPts val="3638"/>
                </a:lnSpc>
              </a:pPr>
            </a:p>
            <a:p>
              <a:pPr algn="l" marL="561035" indent="-280517" lvl="1">
                <a:lnSpc>
                  <a:spcPts val="3638"/>
                </a:lnSpc>
                <a:buFont typeface="Arial"/>
                <a:buChar char="•"/>
              </a:pPr>
              <a:r>
                <a:rPr lang="en-US" sz="2598" spc="-23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Separating the two sets helps prevent evaluating the model on the same observations it learned from.</a:t>
              </a:r>
            </a:p>
            <a:p>
              <a:pPr algn="l">
                <a:lnSpc>
                  <a:spcPts val="3638"/>
                </a:lnSpc>
              </a:pPr>
            </a:p>
            <a:p>
              <a:pPr algn="l" marL="561035" indent="-280517" lvl="1">
                <a:lnSpc>
                  <a:spcPts val="3638"/>
                </a:lnSpc>
                <a:buFont typeface="Arial"/>
                <a:buChar char="•"/>
              </a:pPr>
              <a:r>
                <a:rPr lang="en-US" sz="2598" spc="-23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test set provides a more realistic indication of how the model may perform on unseen data.</a:t>
              </a:r>
            </a:p>
            <a:p>
              <a:pPr algn="l">
                <a:lnSpc>
                  <a:spcPts val="3638"/>
                </a:lnSpc>
              </a:pPr>
            </a:p>
            <a:p>
              <a:pPr algn="l" marL="561035" indent="-280517" lvl="1">
                <a:lnSpc>
                  <a:spcPts val="3638"/>
                </a:lnSpc>
                <a:buFont typeface="Arial"/>
                <a:buChar char="•"/>
              </a:pPr>
              <a:r>
                <a:rPr lang="en-US" sz="2598" spc="-23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This separation is an important step before developing the regression models.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419880" y="9546757"/>
            <a:ext cx="499465" cy="49946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916472" y="3122216"/>
            <a:ext cx="6677765" cy="5292129"/>
          </a:xfrm>
          <a:custGeom>
            <a:avLst/>
            <a:gdLst/>
            <a:ahLst/>
            <a:cxnLst/>
            <a:rect r="r" b="b" t="t" l="l"/>
            <a:pathLst>
              <a:path h="5292129" w="6677765">
                <a:moveTo>
                  <a:pt x="0" y="0"/>
                </a:moveTo>
                <a:lnTo>
                  <a:pt x="6677765" y="0"/>
                </a:lnTo>
                <a:lnTo>
                  <a:pt x="6677765" y="5292129"/>
                </a:lnTo>
                <a:lnTo>
                  <a:pt x="0" y="52921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15458" y="583986"/>
            <a:ext cx="14416174" cy="142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00"/>
              </a:lnSpc>
              <a:spcBef>
                <a:spcPct val="0"/>
              </a:spcBef>
            </a:pPr>
            <a:r>
              <a:rPr lang="en-US" sz="12500" spc="-1000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Train–Test Split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34327" y="9534216"/>
            <a:ext cx="270570" cy="457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8" spc="-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16472" y="8762659"/>
            <a:ext cx="6677765" cy="784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lang="en-US" sz="2100" spc="-75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dataset was divided into training, validation, and testing sets for reliable model evaluation.”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1082" y="502986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8"/>
                </a:lnTo>
                <a:lnTo>
                  <a:pt x="0" y="383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87826" y="1981412"/>
            <a:ext cx="16230600" cy="63804"/>
            <a:chOff x="0" y="0"/>
            <a:chExt cx="4052983" cy="15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657" y="2656745"/>
            <a:ext cx="8174449" cy="7429691"/>
            <a:chOff x="0" y="0"/>
            <a:chExt cx="2152941" cy="19567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2941" cy="1956791"/>
            </a:xfrm>
            <a:custGeom>
              <a:avLst/>
              <a:gdLst/>
              <a:ahLst/>
              <a:cxnLst/>
              <a:rect r="r" b="b" t="t" l="l"/>
              <a:pathLst>
                <a:path h="1956791" w="2152941">
                  <a:moveTo>
                    <a:pt x="48301" y="0"/>
                  </a:moveTo>
                  <a:lnTo>
                    <a:pt x="2104640" y="0"/>
                  </a:lnTo>
                  <a:cubicBezTo>
                    <a:pt x="2131316" y="0"/>
                    <a:pt x="2152941" y="21625"/>
                    <a:pt x="2152941" y="48301"/>
                  </a:cubicBezTo>
                  <a:lnTo>
                    <a:pt x="2152941" y="1908490"/>
                  </a:lnTo>
                  <a:cubicBezTo>
                    <a:pt x="2152941" y="1935166"/>
                    <a:pt x="2131316" y="1956791"/>
                    <a:pt x="2104640" y="1956791"/>
                  </a:cubicBezTo>
                  <a:lnTo>
                    <a:pt x="48301" y="1956791"/>
                  </a:lnTo>
                  <a:cubicBezTo>
                    <a:pt x="21625" y="1956791"/>
                    <a:pt x="0" y="1935166"/>
                    <a:pt x="0" y="1908490"/>
                  </a:cubicBezTo>
                  <a:lnTo>
                    <a:pt x="0" y="48301"/>
                  </a:lnTo>
                  <a:cubicBezTo>
                    <a:pt x="0" y="21625"/>
                    <a:pt x="21625" y="0"/>
                    <a:pt x="483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152941" cy="2023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19880" y="9546757"/>
            <a:ext cx="499465" cy="49946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5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917491" y="2429455"/>
            <a:ext cx="9322258" cy="6660686"/>
          </a:xfrm>
          <a:custGeom>
            <a:avLst/>
            <a:gdLst/>
            <a:ahLst/>
            <a:cxnLst/>
            <a:rect r="r" b="b" t="t" l="l"/>
            <a:pathLst>
              <a:path h="6660686" w="9322258">
                <a:moveTo>
                  <a:pt x="0" y="0"/>
                </a:moveTo>
                <a:lnTo>
                  <a:pt x="9322258" y="0"/>
                </a:lnTo>
                <a:lnTo>
                  <a:pt x="9322258" y="6660685"/>
                </a:lnTo>
                <a:lnTo>
                  <a:pt x="0" y="6660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9917" y="495300"/>
            <a:ext cx="15886173" cy="153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13"/>
              </a:lnSpc>
              <a:spcBef>
                <a:spcPct val="0"/>
              </a:spcBef>
            </a:pPr>
            <a:r>
              <a:rPr lang="en-US" sz="13392" spc="-1071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Correlation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7826" y="2956904"/>
            <a:ext cx="7168374" cy="683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-208">
                <a:solidFill>
                  <a:srgbClr val="FFFFFF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What was checked?</a:t>
            </a:r>
          </a:p>
          <a:p>
            <a:pPr algn="l">
              <a:lnSpc>
                <a:spcPts val="3640"/>
              </a:lnSpc>
            </a:pP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08">
                <a:solidFill>
                  <a:srgbClr val="FFFFFF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Examined relationships between the numerical variables in the dataset.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08">
                <a:solidFill>
                  <a:srgbClr val="FFFFFF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Checked how the selected input features are related to each other.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08">
                <a:solidFill>
                  <a:srgbClr val="FFFFFF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Examined the relationship between the predictors and the prediction target.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08">
                <a:solidFill>
                  <a:srgbClr val="FFFFFF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Correlation helps identify the strength and direction of linear relationships.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08">
                <a:solidFill>
                  <a:srgbClr val="FFFFFF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The analysis provides an initial understanding of variable dependencies before regression modeling.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208">
                <a:solidFill>
                  <a:srgbClr val="FFFFFF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Correlation was treated as an exploratory analysis rather than proof of causation.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535369" y="9514295"/>
            <a:ext cx="268486" cy="47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  <a:spcBef>
                <a:spcPct val="0"/>
              </a:spcBef>
            </a:pPr>
            <a:r>
              <a:rPr lang="en-US" sz="2599" spc="-93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6.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91936" y="9018995"/>
            <a:ext cx="8996064" cy="97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  <a:spcBef>
                <a:spcPct val="0"/>
              </a:spcBef>
            </a:pPr>
            <a:r>
              <a:rPr lang="en-US" sz="2599" spc="-93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Correlation analysis was performed to examine relationships between the selected features and target variables.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7910" y="517949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5" y="0"/>
                </a:lnTo>
                <a:lnTo>
                  <a:pt x="308535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08263" y="1907933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6445" y="2184264"/>
            <a:ext cx="7713723" cy="7803665"/>
            <a:chOff x="0" y="0"/>
            <a:chExt cx="2031598" cy="20552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1598" cy="2055286"/>
            </a:xfrm>
            <a:custGeom>
              <a:avLst/>
              <a:gdLst/>
              <a:ahLst/>
              <a:cxnLst/>
              <a:rect r="r" b="b" t="t" l="l"/>
              <a:pathLst>
                <a:path h="2055286" w="2031598">
                  <a:moveTo>
                    <a:pt x="51186" y="0"/>
                  </a:moveTo>
                  <a:lnTo>
                    <a:pt x="1980411" y="0"/>
                  </a:lnTo>
                  <a:cubicBezTo>
                    <a:pt x="2008681" y="0"/>
                    <a:pt x="2031598" y="22917"/>
                    <a:pt x="2031598" y="51186"/>
                  </a:cubicBezTo>
                  <a:lnTo>
                    <a:pt x="2031598" y="2004100"/>
                  </a:lnTo>
                  <a:cubicBezTo>
                    <a:pt x="2031598" y="2032369"/>
                    <a:pt x="2008681" y="2055286"/>
                    <a:pt x="1980411" y="2055286"/>
                  </a:cubicBezTo>
                  <a:lnTo>
                    <a:pt x="51186" y="2055286"/>
                  </a:lnTo>
                  <a:cubicBezTo>
                    <a:pt x="22917" y="2055286"/>
                    <a:pt x="0" y="2032369"/>
                    <a:pt x="0" y="2004100"/>
                  </a:cubicBezTo>
                  <a:lnTo>
                    <a:pt x="0" y="51186"/>
                  </a:lnTo>
                  <a:cubicBezTo>
                    <a:pt x="0" y="22917"/>
                    <a:pt x="22917" y="0"/>
                    <a:pt x="511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031598" cy="2121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419880" y="9546757"/>
            <a:ext cx="499465" cy="49946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797475" y="3003403"/>
            <a:ext cx="8622405" cy="5355361"/>
          </a:xfrm>
          <a:custGeom>
            <a:avLst/>
            <a:gdLst/>
            <a:ahLst/>
            <a:cxnLst/>
            <a:rect r="r" b="b" t="t" l="l"/>
            <a:pathLst>
              <a:path h="5355361" w="8622405">
                <a:moveTo>
                  <a:pt x="0" y="0"/>
                </a:moveTo>
                <a:lnTo>
                  <a:pt x="8622405" y="0"/>
                </a:lnTo>
                <a:lnTo>
                  <a:pt x="8622405" y="5355361"/>
                </a:lnTo>
                <a:lnTo>
                  <a:pt x="0" y="53553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976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03661" y="424753"/>
            <a:ext cx="16110512" cy="1390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12000" spc="-960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Data Leakage Check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0340" y="2390837"/>
            <a:ext cx="6942453" cy="701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8" spc="-22">
                <a:solidFill>
                  <a:srgbClr val="F9F9F9"/>
                </a:solidFill>
                <a:latin typeface="Poppins"/>
                <a:ea typeface="Poppins"/>
                <a:cs typeface="Poppins"/>
                <a:sym typeface="Poppins"/>
              </a:rPr>
              <a:t>Why was leakage checked?</a:t>
            </a:r>
          </a:p>
          <a:p>
            <a:pPr algn="l">
              <a:lnSpc>
                <a:spcPts val="3498"/>
              </a:lnSpc>
            </a:pPr>
          </a:p>
          <a:p>
            <a:pPr algn="l" marL="539445" indent="-269723" lvl="1">
              <a:lnSpc>
                <a:spcPts val="3498"/>
              </a:lnSpc>
              <a:buFont typeface="Arial"/>
              <a:buChar char="•"/>
            </a:pPr>
            <a:r>
              <a:rPr lang="en-US" sz="2498" spc="-22">
                <a:solidFill>
                  <a:srgbClr val="F9F9F9"/>
                </a:solidFill>
                <a:latin typeface="Poppins"/>
                <a:ea typeface="Poppins"/>
                <a:cs typeface="Poppins"/>
                <a:sym typeface="Poppins"/>
              </a:rPr>
              <a:t>Checked whether information related to the target could unintentionally appear among the input variables.</a:t>
            </a:r>
          </a:p>
          <a:p>
            <a:pPr algn="l" marL="539445" indent="-269723" lvl="1">
              <a:lnSpc>
                <a:spcPts val="3498"/>
              </a:lnSpc>
              <a:buFont typeface="Arial"/>
              <a:buChar char="•"/>
            </a:pPr>
            <a:r>
              <a:rPr lang="en-US" sz="2498" spc="-22">
                <a:solidFill>
                  <a:srgbClr val="F9F9F9"/>
                </a:solidFill>
                <a:latin typeface="Poppins"/>
                <a:ea typeface="Poppins"/>
                <a:cs typeface="Poppins"/>
                <a:sym typeface="Poppins"/>
              </a:rPr>
              <a:t>Data leakage can make a model appear more accurate than it actually is.</a:t>
            </a:r>
          </a:p>
          <a:p>
            <a:pPr algn="l" marL="539445" indent="-269723" lvl="1">
              <a:lnSpc>
                <a:spcPts val="3498"/>
              </a:lnSpc>
              <a:buFont typeface="Arial"/>
              <a:buChar char="•"/>
            </a:pPr>
            <a:r>
              <a:rPr lang="en-US" sz="2498" spc="-22">
                <a:solidFill>
                  <a:srgbClr val="F9F9F9"/>
                </a:solidFill>
                <a:latin typeface="Poppins"/>
                <a:ea typeface="Poppins"/>
                <a:cs typeface="Poppins"/>
                <a:sym typeface="Poppins"/>
              </a:rPr>
              <a:t>A proper modeling setup should ensure that the model receives only appropriate predictor information.</a:t>
            </a:r>
          </a:p>
          <a:p>
            <a:pPr algn="l" marL="539445" indent="-269723" lvl="1">
              <a:lnSpc>
                <a:spcPts val="3498"/>
              </a:lnSpc>
              <a:buFont typeface="Arial"/>
              <a:buChar char="•"/>
            </a:pPr>
            <a:r>
              <a:rPr lang="en-US" sz="2498" spc="-22">
                <a:solidFill>
                  <a:srgbClr val="F9F9F9"/>
                </a:solidFill>
                <a:latin typeface="Poppins"/>
                <a:ea typeface="Poppins"/>
                <a:cs typeface="Poppins"/>
                <a:sym typeface="Poppins"/>
              </a:rPr>
              <a:t>The check helps maintain a fair separation between input features and the prediction target.</a:t>
            </a:r>
          </a:p>
          <a:p>
            <a:pPr algn="l" marL="539445" indent="-269723" lvl="1">
              <a:lnSpc>
                <a:spcPts val="3498"/>
              </a:lnSpc>
              <a:buFont typeface="Arial"/>
              <a:buChar char="•"/>
            </a:pPr>
            <a:r>
              <a:rPr lang="en-US" sz="2498" spc="-22">
                <a:solidFill>
                  <a:srgbClr val="F9F9F9"/>
                </a:solidFill>
                <a:latin typeface="Poppins"/>
                <a:ea typeface="Poppins"/>
                <a:cs typeface="Poppins"/>
                <a:sym typeface="Poppins"/>
              </a:rPr>
              <a:t>This improves the reliability of the evaluation in the upcoming modeling stage.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35369" y="9514295"/>
            <a:ext cx="268486" cy="47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  <a:spcBef>
                <a:spcPct val="0"/>
              </a:spcBef>
            </a:pPr>
            <a:r>
              <a:rPr lang="en-US" sz="2599" spc="-93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8.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51641" y="8491004"/>
            <a:ext cx="7968483" cy="97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  <a:spcBef>
                <a:spcPct val="0"/>
              </a:spcBef>
            </a:pPr>
            <a:r>
              <a:rPr lang="en-US" sz="2599" spc="-93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selected features were checked to ensure that target information was not unintentionally included.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2147" y="567856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12073" y="2143066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6415" y="2607202"/>
            <a:ext cx="9235401" cy="6986511"/>
            <a:chOff x="0" y="0"/>
            <a:chExt cx="2432369" cy="18400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2369" cy="1840069"/>
            </a:xfrm>
            <a:custGeom>
              <a:avLst/>
              <a:gdLst/>
              <a:ahLst/>
              <a:cxnLst/>
              <a:rect r="r" b="b" t="t" l="l"/>
              <a:pathLst>
                <a:path h="1840069" w="2432369">
                  <a:moveTo>
                    <a:pt x="42753" y="0"/>
                  </a:moveTo>
                  <a:lnTo>
                    <a:pt x="2389616" y="0"/>
                  </a:lnTo>
                  <a:cubicBezTo>
                    <a:pt x="2400955" y="0"/>
                    <a:pt x="2411829" y="4504"/>
                    <a:pt x="2419847" y="12522"/>
                  </a:cubicBezTo>
                  <a:cubicBezTo>
                    <a:pt x="2427865" y="20540"/>
                    <a:pt x="2432369" y="31414"/>
                    <a:pt x="2432369" y="42753"/>
                  </a:cubicBezTo>
                  <a:lnTo>
                    <a:pt x="2432369" y="1797316"/>
                  </a:lnTo>
                  <a:cubicBezTo>
                    <a:pt x="2432369" y="1808655"/>
                    <a:pt x="2427865" y="1819529"/>
                    <a:pt x="2419847" y="1827547"/>
                  </a:cubicBezTo>
                  <a:cubicBezTo>
                    <a:pt x="2411829" y="1835565"/>
                    <a:pt x="2400955" y="1840069"/>
                    <a:pt x="2389616" y="1840069"/>
                  </a:cubicBezTo>
                  <a:lnTo>
                    <a:pt x="42753" y="1840069"/>
                  </a:lnTo>
                  <a:cubicBezTo>
                    <a:pt x="31414" y="1840069"/>
                    <a:pt x="20540" y="1835565"/>
                    <a:pt x="12522" y="1827547"/>
                  </a:cubicBezTo>
                  <a:cubicBezTo>
                    <a:pt x="4504" y="1819529"/>
                    <a:pt x="0" y="1808655"/>
                    <a:pt x="0" y="1797316"/>
                  </a:cubicBezTo>
                  <a:lnTo>
                    <a:pt x="0" y="42753"/>
                  </a:lnTo>
                  <a:cubicBezTo>
                    <a:pt x="0" y="31414"/>
                    <a:pt x="4504" y="20540"/>
                    <a:pt x="12522" y="12522"/>
                  </a:cubicBezTo>
                  <a:cubicBezTo>
                    <a:pt x="20540" y="4504"/>
                    <a:pt x="31414" y="0"/>
                    <a:pt x="4275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432369" cy="1906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419880" y="9546757"/>
            <a:ext cx="499465" cy="49946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176664" y="2670271"/>
            <a:ext cx="7175612" cy="6312258"/>
          </a:xfrm>
          <a:custGeom>
            <a:avLst/>
            <a:gdLst/>
            <a:ahLst/>
            <a:cxnLst/>
            <a:rect r="r" b="b" t="t" l="l"/>
            <a:pathLst>
              <a:path h="6312258" w="7175612">
                <a:moveTo>
                  <a:pt x="0" y="0"/>
                </a:moveTo>
                <a:lnTo>
                  <a:pt x="7175612" y="0"/>
                </a:lnTo>
                <a:lnTo>
                  <a:pt x="7175612" y="6312258"/>
                </a:lnTo>
                <a:lnTo>
                  <a:pt x="0" y="6312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63467" y="476250"/>
            <a:ext cx="16179206" cy="142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00"/>
              </a:lnSpc>
              <a:spcBef>
                <a:spcPct val="0"/>
              </a:spcBef>
            </a:pPr>
            <a:r>
              <a:rPr lang="en-US" sz="12500" spc="-1000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Multicollinearity Check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8092" y="2828528"/>
            <a:ext cx="7244059" cy="655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9F9F9"/>
                </a:solidFill>
                <a:latin typeface="Open Sans"/>
                <a:ea typeface="Open Sans"/>
                <a:cs typeface="Open Sans"/>
                <a:sym typeface="Open Sans"/>
              </a:rPr>
              <a:t>Correlation-Based Check</a:t>
            </a:r>
          </a:p>
          <a:p>
            <a:pPr algn="l">
              <a:lnSpc>
                <a:spcPts val="3499"/>
              </a:lnSpc>
            </a:pP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9F9F9"/>
                </a:solidFill>
                <a:latin typeface="Open Sans"/>
                <a:ea typeface="Open Sans"/>
                <a:cs typeface="Open Sans"/>
                <a:sym typeface="Open Sans"/>
              </a:rPr>
              <a:t>Examined the correlation between selected input features.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9F9F9"/>
                </a:solidFill>
                <a:latin typeface="Open Sans"/>
                <a:ea typeface="Open Sans"/>
                <a:cs typeface="Open Sans"/>
                <a:sym typeface="Open Sans"/>
              </a:rPr>
              <a:t>Separate correlation matrices were generated for the SOC feature set and Remaining Charging Time feature set.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9F9F9"/>
                </a:solidFill>
                <a:latin typeface="Open Sans"/>
                <a:ea typeface="Open Sans"/>
                <a:cs typeface="Open Sans"/>
                <a:sym typeface="Open Sans"/>
              </a:rPr>
              <a:t>Power was included along with the respective raw features.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9F9F9"/>
                </a:solidFill>
                <a:latin typeface="Open Sans"/>
                <a:ea typeface="Open Sans"/>
                <a:cs typeface="Open Sans"/>
                <a:sym typeface="Open Sans"/>
              </a:rPr>
              <a:t>The correlation values were rounded for easier interpretation.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9F9F9"/>
                </a:solidFill>
                <a:latin typeface="Open Sans"/>
                <a:ea typeface="Open Sans"/>
                <a:cs typeface="Open Sans"/>
                <a:sym typeface="Open Sans"/>
              </a:rPr>
              <a:t>This check helps identify features that may have strong relationships with each other.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9F9F9"/>
                </a:solidFill>
                <a:latin typeface="Open Sans"/>
                <a:ea typeface="Open Sans"/>
                <a:cs typeface="Open Sans"/>
                <a:sym typeface="Open Sans"/>
              </a:rPr>
              <a:t>It provides an initial indication of possible multicollinearity before regression modeling.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35369" y="9514295"/>
            <a:ext cx="268486" cy="47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  <a:spcBef>
                <a:spcPct val="0"/>
              </a:spcBef>
            </a:pPr>
            <a:r>
              <a:rPr lang="en-US" sz="2599" spc="-93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7.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43986" y="9173521"/>
            <a:ext cx="6426785" cy="77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3"/>
              </a:lnSpc>
              <a:spcBef>
                <a:spcPct val="0"/>
              </a:spcBef>
            </a:pPr>
            <a:r>
              <a:rPr lang="en-US" sz="2081" spc="-74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Feature-to-feature correlations were examined to identify potential multicollinearity among modelling inputs.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72033" y="4478007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8049" y="505849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5" y="0"/>
                </a:lnTo>
                <a:lnTo>
                  <a:pt x="308535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98291" y="1564799"/>
            <a:ext cx="16230600" cy="63804"/>
            <a:chOff x="0" y="0"/>
            <a:chExt cx="4052983" cy="15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94425" y="1967092"/>
            <a:ext cx="7800155" cy="8156358"/>
            <a:chOff x="0" y="0"/>
            <a:chExt cx="2054362" cy="21481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54362" cy="2148177"/>
            </a:xfrm>
            <a:custGeom>
              <a:avLst/>
              <a:gdLst/>
              <a:ahLst/>
              <a:cxnLst/>
              <a:rect r="r" b="b" t="t" l="l"/>
              <a:pathLst>
                <a:path h="2148177" w="2054362">
                  <a:moveTo>
                    <a:pt x="50619" y="0"/>
                  </a:moveTo>
                  <a:lnTo>
                    <a:pt x="2003743" y="0"/>
                  </a:lnTo>
                  <a:cubicBezTo>
                    <a:pt x="2017168" y="0"/>
                    <a:pt x="2030043" y="5333"/>
                    <a:pt x="2039536" y="14826"/>
                  </a:cubicBezTo>
                  <a:cubicBezTo>
                    <a:pt x="2049029" y="24319"/>
                    <a:pt x="2054362" y="37194"/>
                    <a:pt x="2054362" y="50619"/>
                  </a:cubicBezTo>
                  <a:lnTo>
                    <a:pt x="2054362" y="2097557"/>
                  </a:lnTo>
                  <a:cubicBezTo>
                    <a:pt x="2054362" y="2110982"/>
                    <a:pt x="2049029" y="2123858"/>
                    <a:pt x="2039536" y="2133351"/>
                  </a:cubicBezTo>
                  <a:cubicBezTo>
                    <a:pt x="2030043" y="2142844"/>
                    <a:pt x="2017168" y="2148177"/>
                    <a:pt x="2003743" y="2148177"/>
                  </a:cubicBezTo>
                  <a:lnTo>
                    <a:pt x="50619" y="2148177"/>
                  </a:lnTo>
                  <a:cubicBezTo>
                    <a:pt x="37194" y="2148177"/>
                    <a:pt x="24319" y="2142844"/>
                    <a:pt x="14826" y="2133351"/>
                  </a:cubicBezTo>
                  <a:cubicBezTo>
                    <a:pt x="5333" y="2123858"/>
                    <a:pt x="0" y="2110982"/>
                    <a:pt x="0" y="2097557"/>
                  </a:cubicBezTo>
                  <a:lnTo>
                    <a:pt x="0" y="50619"/>
                  </a:lnTo>
                  <a:cubicBezTo>
                    <a:pt x="0" y="37194"/>
                    <a:pt x="5333" y="24319"/>
                    <a:pt x="14826" y="14826"/>
                  </a:cubicBezTo>
                  <a:cubicBezTo>
                    <a:pt x="24319" y="5333"/>
                    <a:pt x="37194" y="0"/>
                    <a:pt x="506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054362" cy="2214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43913" y="235610"/>
            <a:ext cx="13439580" cy="1371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3"/>
              </a:lnSpc>
              <a:spcBef>
                <a:spcPct val="0"/>
              </a:spcBef>
            </a:pPr>
            <a:r>
              <a:rPr lang="en-US" sz="11992" spc="-959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Data Pipeline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50098" y="2111768"/>
            <a:ext cx="4940264" cy="7653037"/>
            <a:chOff x="0" y="0"/>
            <a:chExt cx="1466132" cy="22712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6132" cy="2271207"/>
            </a:xfrm>
            <a:custGeom>
              <a:avLst/>
              <a:gdLst/>
              <a:ahLst/>
              <a:cxnLst/>
              <a:rect r="r" b="b" t="t" l="l"/>
              <a:pathLst>
                <a:path h="2271207" w="1466132">
                  <a:moveTo>
                    <a:pt x="79922" y="0"/>
                  </a:moveTo>
                  <a:lnTo>
                    <a:pt x="1386209" y="0"/>
                  </a:lnTo>
                  <a:cubicBezTo>
                    <a:pt x="1430349" y="0"/>
                    <a:pt x="1466132" y="35782"/>
                    <a:pt x="1466132" y="79922"/>
                  </a:cubicBezTo>
                  <a:lnTo>
                    <a:pt x="1466132" y="2191284"/>
                  </a:lnTo>
                  <a:cubicBezTo>
                    <a:pt x="1466132" y="2235424"/>
                    <a:pt x="1430349" y="2271207"/>
                    <a:pt x="1386209" y="2271207"/>
                  </a:cubicBezTo>
                  <a:lnTo>
                    <a:pt x="79922" y="2271207"/>
                  </a:lnTo>
                  <a:cubicBezTo>
                    <a:pt x="35782" y="2271207"/>
                    <a:pt x="0" y="2235424"/>
                    <a:pt x="0" y="2191284"/>
                  </a:cubicBezTo>
                  <a:lnTo>
                    <a:pt x="0" y="79922"/>
                  </a:lnTo>
                  <a:cubicBezTo>
                    <a:pt x="0" y="35782"/>
                    <a:pt x="35782" y="0"/>
                    <a:pt x="79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466132" cy="2337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647392" indent="-323696" lvl="1">
                <a:lnSpc>
                  <a:spcPts val="4198"/>
                </a:lnSpc>
                <a:buFont typeface="Arial"/>
                <a:buChar char="•"/>
              </a:pPr>
              <a:r>
                <a:rPr lang="en-US" sz="2998" spc="-26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Data Quality Assessment — fits your missing-value/data-quality work.</a:t>
              </a:r>
            </a:p>
            <a:p>
              <a:pPr algn="l">
                <a:lnSpc>
                  <a:spcPts val="4198"/>
                </a:lnSpc>
              </a:pPr>
            </a:p>
            <a:p>
              <a:pPr algn="l" marL="647392" indent="-323696" lvl="1">
                <a:lnSpc>
                  <a:spcPts val="4198"/>
                </a:lnSpc>
                <a:buFont typeface="Arial"/>
                <a:buChar char="•"/>
              </a:pPr>
              <a:r>
                <a:rPr lang="en-US" sz="2998" spc="-26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Feature Engineering — makes the pipeline clearer than only saying feature selection.</a:t>
              </a:r>
            </a:p>
            <a:p>
              <a:pPr algn="l">
                <a:lnSpc>
                  <a:spcPts val="4198"/>
                </a:lnSpc>
              </a:pPr>
            </a:p>
            <a:p>
              <a:pPr algn="l" marL="647392" indent="-323696" lvl="1">
                <a:lnSpc>
                  <a:spcPts val="4198"/>
                </a:lnSpc>
                <a:buFont typeface="Arial"/>
                <a:buChar char="•"/>
              </a:pPr>
              <a:r>
                <a:rPr lang="en-US" sz="2998" spc="-26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File Organization — useful because you created organized outputs/reports during the project.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294603" y="2207223"/>
            <a:ext cx="5754861" cy="778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Raw Data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↓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Reading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↓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Cleaning &amp; Preprocessing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↓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EDA &amp; Data Understanding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↓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Feature Engineering / Feature Selection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↓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Target Definition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↓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Train–Validation–Test Preparation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↓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Correlation Analysis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↓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Multicollinearity Check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↓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Leakage Check</a:t>
            </a:r>
          </a:p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↓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9F9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Modeling-Ready Dataset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419880" y="9546757"/>
            <a:ext cx="499465" cy="4994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535369" y="9514295"/>
            <a:ext cx="268486" cy="47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  <a:spcBef>
                <a:spcPct val="0"/>
              </a:spcBef>
            </a:pPr>
            <a:r>
              <a:rPr lang="en-US" sz="2599" spc="-93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9.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71838" y="-1881414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4335" y="593452"/>
            <a:ext cx="308535" cy="383057"/>
          </a:xfrm>
          <a:custGeom>
            <a:avLst/>
            <a:gdLst/>
            <a:ahLst/>
            <a:cxnLst/>
            <a:rect r="r" b="b" t="t" l="l"/>
            <a:pathLst>
              <a:path h="383057" w="308535">
                <a:moveTo>
                  <a:pt x="0" y="0"/>
                </a:moveTo>
                <a:lnTo>
                  <a:pt x="308536" y="0"/>
                </a:lnTo>
                <a:lnTo>
                  <a:pt x="308536" y="383057"/>
                </a:lnTo>
                <a:lnTo>
                  <a:pt x="0" y="38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790367"/>
            <a:ext cx="16230600" cy="63804"/>
            <a:chOff x="0" y="0"/>
            <a:chExt cx="4052983" cy="15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981704" y="340481"/>
            <a:ext cx="8355356" cy="131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99"/>
              </a:lnSpc>
              <a:spcBef>
                <a:spcPct val="0"/>
              </a:spcBef>
            </a:pPr>
            <a:r>
              <a:rPr lang="en-US" sz="11499" spc="-919">
                <a:solidFill>
                  <a:srgbClr val="F9F9F9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2671" y="7464571"/>
            <a:ext cx="673717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spc="-119" b="true">
                <a:solidFill>
                  <a:srgbClr val="8ADC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2671" y="4292416"/>
            <a:ext cx="619082" cy="58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spc="-119" b="true">
                <a:solidFill>
                  <a:srgbClr val="8ADC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7367" y="5415719"/>
            <a:ext cx="644326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b="true" sz="3400" spc="-119">
                <a:solidFill>
                  <a:srgbClr val="8ADC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2671" y="6490164"/>
            <a:ext cx="541455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spc="-119" b="true">
                <a:solidFill>
                  <a:srgbClr val="8ADC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70897" y="4123958"/>
            <a:ext cx="198488" cy="4249299"/>
            <a:chOff x="0" y="0"/>
            <a:chExt cx="52277" cy="11191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277" cy="1119157"/>
            </a:xfrm>
            <a:custGeom>
              <a:avLst/>
              <a:gdLst/>
              <a:ahLst/>
              <a:cxnLst/>
              <a:rect r="r" b="b" t="t" l="l"/>
              <a:pathLst>
                <a:path h="1119157" w="52277">
                  <a:moveTo>
                    <a:pt x="26138" y="0"/>
                  </a:moveTo>
                  <a:lnTo>
                    <a:pt x="26138" y="0"/>
                  </a:lnTo>
                  <a:cubicBezTo>
                    <a:pt x="40574" y="0"/>
                    <a:pt x="52277" y="11703"/>
                    <a:pt x="52277" y="26138"/>
                  </a:cubicBezTo>
                  <a:lnTo>
                    <a:pt x="52277" y="1093019"/>
                  </a:lnTo>
                  <a:cubicBezTo>
                    <a:pt x="52277" y="1099951"/>
                    <a:pt x="49523" y="1106599"/>
                    <a:pt x="44621" y="1111501"/>
                  </a:cubicBezTo>
                  <a:cubicBezTo>
                    <a:pt x="39719" y="1116403"/>
                    <a:pt x="33071" y="1119157"/>
                    <a:pt x="26138" y="1119157"/>
                  </a:cubicBezTo>
                  <a:lnTo>
                    <a:pt x="26138" y="1119157"/>
                  </a:lnTo>
                  <a:cubicBezTo>
                    <a:pt x="19206" y="1119157"/>
                    <a:pt x="12558" y="1116403"/>
                    <a:pt x="7656" y="1111501"/>
                  </a:cubicBezTo>
                  <a:cubicBezTo>
                    <a:pt x="2754" y="1106599"/>
                    <a:pt x="0" y="1099951"/>
                    <a:pt x="0" y="1093019"/>
                  </a:cubicBezTo>
                  <a:lnTo>
                    <a:pt x="0" y="26138"/>
                  </a:lnTo>
                  <a:cubicBezTo>
                    <a:pt x="0" y="19206"/>
                    <a:pt x="2754" y="12558"/>
                    <a:pt x="7656" y="7656"/>
                  </a:cubicBezTo>
                  <a:cubicBezTo>
                    <a:pt x="12558" y="2754"/>
                    <a:pt x="19206" y="0"/>
                    <a:pt x="261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2277" cy="1185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02414" y="5972669"/>
            <a:ext cx="9701" cy="50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890195" y="4292416"/>
            <a:ext cx="9518104" cy="44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b="true" sz="2498" spc="-2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was cleaned, explored, and analysed through EDA.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90195" y="5485552"/>
            <a:ext cx="12028591" cy="43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4"/>
              </a:lnSpc>
              <a:spcBef>
                <a:spcPct val="0"/>
              </a:spcBef>
            </a:pPr>
            <a:r>
              <a:rPr lang="en-US" b="true" sz="2367" spc="-2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Relevant features and Remaining Charging Time as the target were identified.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90195" y="6490164"/>
            <a:ext cx="14888673" cy="44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b="true" sz="2498" spc="-2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Train–test split and basic correlation, multicollinearity, and leakage checks were completed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90195" y="7565853"/>
            <a:ext cx="11768138" cy="44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b="true" sz="2498" spc="-2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is now ready for regression model development in the next stage.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419880" y="9546757"/>
            <a:ext cx="499465" cy="49946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5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448826" y="9514295"/>
            <a:ext cx="441573" cy="47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  <a:spcBef>
                <a:spcPct val="0"/>
              </a:spcBef>
            </a:pPr>
            <a:r>
              <a:rPr lang="en-US" sz="2599" spc="-93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10.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52229" y="8176857"/>
            <a:ext cx="5772448" cy="181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99"/>
              </a:lnSpc>
              <a:spcBef>
                <a:spcPct val="0"/>
              </a:spcBef>
            </a:pPr>
            <a:r>
              <a:rPr lang="en-US" sz="9999" spc="-35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DAHUpEPKHTA</dc:identifier>
  <dcterms:modified xsi:type="dcterms:W3CDTF">2011-08-01T06:04:30Z</dcterms:modified>
  <cp:revision>1</cp:revision>
  <dc:title>Battery SOC &amp; Remaining Charging Time Prediction</dc:title>
</cp:coreProperties>
</file>